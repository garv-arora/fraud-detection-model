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87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958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inputs include Universal Sompo public claims/navigation pages and uploaded internal workflow PDF describing Quest input, FIR extraction, news/image search, FIR-vs-news mismatch, map validation and final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inputs include Universal Sompo public claims/navigation pages and uploaded internal workflow PDF describing Quest input, FIR extraction, news/image search, FIR-vs-news mismatch, map validation and final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inputs include Universal Sompo public claims/navigation pages and uploaded internal workflow PDF describing Quest input, FIR extraction, news/image search, FIR-vs-news mismatch, map validation and final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inputs include Universal Sompo public claims/navigation pages and uploaded internal workflow PDF describing Quest input, FIR extraction, news/image search, FIR-vs-news mismatch, map validation and final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inputs include Universal Sompo public claims/navigation pages and uploaded internal workflow PDF describing Quest input, FIR extraction, news/image search, FIR-vs-news mismatch, map validation and final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inputs include Universal Sompo public claims/navigation pages and uploaded internal workflow PDF describing Quest input, FIR extraction, news/image search, FIR-vs-news mismatch, map validation and final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inputs include Universal Sompo public claims/navigation pages and uploaded internal workflow PDF describing Quest input, FIR extraction, news/image search, FIR-vs-news mismatch, map validation and final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inputs include Universal Sompo public claims/navigation pages and uploaded internal workflow PDF describing Quest input, FIR extraction, news/image search, FIR-vs-news mismatch, map validation and final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inputs include Universal Sompo public claims/navigation pages and uploaded internal workflow PDF describing Quest input, FIR extraction, news/image search, FIR-vs-news mismatch, map validation and final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inputs include Universal Sompo public claims/navigation pages and uploaded internal workflow PDF describing Quest input, FIR extraction, news/image search, FIR-vs-news mismatch, map validation and final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4A98"/>
          </a:solidFill>
          <a:ln w="12700">
            <a:solidFill>
              <a:srgbClr val="004A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04A98"/>
          </a:solidFill>
          <a:ln w="12700">
            <a:solidFill>
              <a:srgbClr val="004A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0" y="0"/>
            <a:ext cx="109728" cy="685800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02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Universal Sompo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</a:rPr>
              <a:t>AI Claim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</a:rPr>
              <a:t>Evidence Finder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21792" y="30632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EFF"/>
                </a:solidFill>
              </a:rPr>
              <a:t>Technical build plan for fraud-risk evidence discovery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" y="388620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945636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₹8L PILOT SCOPE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892040" y="91440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15D"/>
                </a:solidFill>
              </a:rPr>
              <a:t>For Universal Sompo technical + claims investigation stakeholders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92040" y="201168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B8D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2112264"/>
            <a:ext cx="1472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5D"/>
                </a:solidFill>
              </a:rPr>
              <a:t>Quest Claim Input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201168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B8D3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59168" y="2112264"/>
            <a:ext cx="1472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5D"/>
                </a:solidFill>
              </a:rPr>
              <a:t>Evidence Search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06840" y="201168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B8D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16568" y="2112264"/>
            <a:ext cx="1472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5D"/>
                </a:solidFill>
              </a:rPr>
              <a:t>Fraud Signals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01968" y="2308860"/>
            <a:ext cx="301752" cy="0"/>
          </a:xfrm>
          <a:prstGeom prst="line">
            <a:avLst/>
          </a:prstGeom>
          <a:noFill/>
          <a:ln w="12700">
            <a:solidFill>
              <a:srgbClr val="F5822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659368" y="2308860"/>
            <a:ext cx="301752" cy="0"/>
          </a:xfrm>
          <a:prstGeom prst="line">
            <a:avLst/>
          </a:prstGeom>
          <a:noFill/>
          <a:ln w="12700">
            <a:solidFill>
              <a:srgbClr val="F5822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892040" y="3127248"/>
            <a:ext cx="5806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34015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8220"/>
                </a:solidFill>
              </a:rPr>
              <a:t>Build objective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66360" y="37033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5223B"/>
                </a:solidFill>
              </a:rPr>
              <a:t>Automate the first-pass evidence finding workflow: extract claim facts, search public sources, rank evidence, flag mismatches, and generate investigator-ready output.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98"/>
                </a:solidFill>
              </a:rPr>
              <a:t>Universal Sompo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057400" y="333756"/>
            <a:ext cx="164592" cy="164592"/>
          </a:xfrm>
          <a:prstGeom prst="arc">
            <a:avLst/>
          </a:prstGeom>
          <a:noFill/>
          <a:ln w="12700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0" y="3200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58220"/>
                </a:solidFill>
              </a:rPr>
              <a:t>TECHNICAL BUILD PLAN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5D"/>
                </a:solidFill>
              </a:rPr>
              <a:t>What Universal Sompo is doing today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0"/>
          </a:xfrm>
          <a:prstGeom prst="line">
            <a:avLst/>
          </a:prstGeom>
          <a:noFill/>
          <a:ln w="12700">
            <a:solidFill>
              <a:srgbClr val="D7E4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361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23B"/>
                </a:solidFill>
              </a:rPr>
              <a:t>Manual RCU workflow observed in sample cases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4480560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5223B"/>
                </a:solidFill>
              </a:rPr>
              <a:t>Input is taken from Investigation Claims system “Quest”.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5223B"/>
                </a:solidFill>
              </a:rPr>
              <a:t>FIR / initial documents are read to extract date, time, vehicle, location and parties.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5223B"/>
                </a:solidFill>
              </a:rPr>
              <a:t>Investigator searches news sources, downloads articles/images and shares Excel output.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5223B"/>
                </a:solidFill>
              </a:rPr>
              <a:t>Current fraud triggers are mismatches: FIR vs news, cause, spot, road feasibility.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0" y="1591056"/>
            <a:ext cx="608076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pic>
        <p:nvPicPr>
          <p:cNvPr id="10" name="Image 0" descr="/mnt/data/usgi_pag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800" y="1737360"/>
            <a:ext cx="2718440" cy="3840480"/>
          </a:xfrm>
          <a:prstGeom prst="rect">
            <a:avLst/>
          </a:prstGeom>
        </p:spPr>
      </p:pic>
      <p:pic>
        <p:nvPicPr>
          <p:cNvPr id="11" name="Image 1" descr="/mnt/data/usgi_page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9160" y="1737360"/>
            <a:ext cx="2718440" cy="3840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623560" y="557784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004A98"/>
          </a:solidFill>
          <a:ln w="12700">
            <a:solidFill>
              <a:srgbClr val="004A9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696712" y="5637276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AS-IS PROCESS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8458200" y="557784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31352" y="5637276"/>
            <a:ext cx="1088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CASE EVIDENCE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8686800" y="61996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79A"/>
                </a:solidFill>
              </a:rPr>
              <a:t>Source: uploaded internal workflow document, pages 1–4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98"/>
                </a:solidFill>
              </a:rPr>
              <a:t>Universal Sompo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057400" y="333756"/>
            <a:ext cx="164592" cy="164592"/>
          </a:xfrm>
          <a:prstGeom prst="arc">
            <a:avLst/>
          </a:prstGeom>
          <a:noFill/>
          <a:ln w="12700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0" y="3200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58220"/>
                </a:solidFill>
              </a:rPr>
              <a:t>TECHNICAL BUILD PLAN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5D"/>
                </a:solidFill>
              </a:rPr>
              <a:t>Pilot scope: what the model will actually do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0"/>
          </a:xfrm>
          <a:prstGeom prst="line">
            <a:avLst/>
          </a:prstGeom>
          <a:noFill/>
          <a:ln w="12700">
            <a:solidFill>
              <a:srgbClr val="D7E4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7E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3852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004A98"/>
          </a:solidFill>
          <a:ln w="12700">
            <a:solidFill>
              <a:srgbClr val="004A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97964"/>
            <a:ext cx="356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41248" y="2423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15D"/>
                </a:solidFill>
              </a:rPr>
              <a:t>Input Normalization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3063240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5223B"/>
                </a:solidFill>
              </a:rPr>
              <a:t>Parse FIR + Quest fields into a structured accident object: date, time, place, vehicles, parties, cause.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20440" y="169164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FFF1E5"/>
          </a:solidFill>
          <a:ln w="12700">
            <a:solidFill>
              <a:srgbClr val="FFD5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21608" y="193852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1997964"/>
            <a:ext cx="356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721608" y="2423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15D"/>
                </a:solidFill>
              </a:rPr>
              <a:t>Evidence Discovery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21608" y="3063240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5223B"/>
                </a:solidFill>
              </a:rPr>
              <a:t>Generate multiple queries; run web/news/image search; extract article text, headlines, source, date, URL.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169164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7E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01968" y="193852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004A98"/>
          </a:solidFill>
          <a:ln w="12700">
            <a:solidFill>
              <a:srgbClr val="004A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997964"/>
            <a:ext cx="356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601968" y="2423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15D"/>
                </a:solidFill>
              </a:rPr>
              <a:t>Mismatch Scoring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01968" y="3063240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5223B"/>
                </a:solidFill>
              </a:rPr>
              <a:t>Compare FIR narrative against public evidence and maps; score cause, location, date, vehicle and entity consistency.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281160" y="169164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FFF1E5"/>
          </a:solidFill>
          <a:ln w="12700">
            <a:solidFill>
              <a:srgbClr val="FFD5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82328" y="193852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55480" y="1997964"/>
            <a:ext cx="356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04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482328" y="2423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315D"/>
                </a:solidFill>
              </a:rPr>
              <a:t>Output Packaging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82328" y="3063240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5223B"/>
                </a:solidFill>
              </a:rPr>
              <a:t>Generate an investigator report: evidence links, relevance scores, mismatch flags, summary and next action.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56235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4A98"/>
                </a:solidFill>
              </a:rPr>
              <a:t>Not a black-box “fraud decision engine”. It is an evidence assistant that makes RCU faster, more consistent, and auditable.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98"/>
                </a:solidFill>
              </a:rPr>
              <a:t>Universal Sompo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057400" y="333756"/>
            <a:ext cx="164592" cy="164592"/>
          </a:xfrm>
          <a:prstGeom prst="arc">
            <a:avLst/>
          </a:prstGeom>
          <a:noFill/>
          <a:ln w="12700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0" y="3200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58220"/>
                </a:solidFill>
              </a:rPr>
              <a:t>TECHNICAL BUILD PLAN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5D"/>
                </a:solidFill>
              </a:rPr>
              <a:t>Target architecture: retrieval + ranking + summarization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0"/>
          </a:xfrm>
          <a:prstGeom prst="line">
            <a:avLst/>
          </a:prstGeom>
          <a:noFill/>
          <a:ln w="12700">
            <a:solidFill>
              <a:srgbClr val="D7E4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8D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020824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5D"/>
                </a:solidFill>
              </a:rPr>
              <a:t>Quest / FIR Docs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192024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EAF3FF"/>
          </a:solidFill>
          <a:ln w="12700">
            <a:solidFill>
              <a:srgbClr val="B8D3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2020824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5D"/>
                </a:solidFill>
              </a:rPr>
              <a:t>Claim Fact Extractor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8D3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3128" y="2020824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5D"/>
                </a:solidFill>
              </a:rPr>
              <a:t>Query Generator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92024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EAF3FF"/>
          </a:solidFill>
          <a:ln w="12700">
            <a:solidFill>
              <a:srgbClr val="B8D3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2020824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5D"/>
                </a:solidFill>
              </a:rPr>
              <a:t>Search Aggregator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01000" y="192024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8D3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0728" y="2020824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5D"/>
                </a:solidFill>
              </a:rPr>
              <a:t>Evidence Extractor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829800" y="192024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EAF3FF"/>
          </a:solidFill>
          <a:ln w="12700">
            <a:solidFill>
              <a:srgbClr val="B8D3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39528" y="2020824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5D"/>
                </a:solidFill>
              </a:rPr>
              <a:t>Scoring Engine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84248" y="2249424"/>
            <a:ext cx="301752" cy="0"/>
          </a:xfrm>
          <a:prstGeom prst="line">
            <a:avLst/>
          </a:prstGeom>
          <a:noFill/>
          <a:ln w="12700">
            <a:solidFill>
              <a:srgbClr val="F5822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67328" y="2249424"/>
            <a:ext cx="530352" cy="0"/>
          </a:xfrm>
          <a:prstGeom prst="line">
            <a:avLst/>
          </a:prstGeom>
          <a:noFill/>
          <a:ln w="12700">
            <a:solidFill>
              <a:srgbClr val="F5822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779008" y="2249424"/>
            <a:ext cx="347472" cy="0"/>
          </a:xfrm>
          <a:prstGeom prst="line">
            <a:avLst/>
          </a:prstGeom>
          <a:noFill/>
          <a:ln w="12700">
            <a:solidFill>
              <a:srgbClr val="F5822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607808" y="2249424"/>
            <a:ext cx="347472" cy="0"/>
          </a:xfrm>
          <a:prstGeom prst="line">
            <a:avLst/>
          </a:prstGeom>
          <a:noFill/>
          <a:ln w="12700">
            <a:solidFill>
              <a:srgbClr val="F5822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436608" y="2249424"/>
            <a:ext cx="347472" cy="0"/>
          </a:xfrm>
          <a:prstGeom prst="line">
            <a:avLst/>
          </a:prstGeom>
          <a:noFill/>
          <a:ln w="12700">
            <a:solidFill>
              <a:srgbClr val="F5822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1520" y="3246120"/>
            <a:ext cx="10789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4930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8220"/>
                </a:solidFill>
              </a:rPr>
              <a:t>Processing pattern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3822192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5223B"/>
                </a:solidFill>
              </a:rPr>
              <a:t>Async workers run search + extraction in parallel. Redis caches repeated searches and URLs. PostgreSQL stores claim objects, evidence metadata, scores, and audit logs. LLM is used only for extraction/summarization; deterministic ranking remains explainable.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60120" y="5257800"/>
            <a:ext cx="777240" cy="256032"/>
          </a:xfrm>
          <a:prstGeom prst="roundRect">
            <a:avLst>
              <a:gd name="adj" fmla="val 21429"/>
            </a:avLst>
          </a:prstGeom>
          <a:solidFill>
            <a:srgbClr val="004A98"/>
          </a:solidFill>
          <a:ln w="12700">
            <a:solidFill>
              <a:srgbClr val="004A9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3272" y="5317236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FastAPI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810512" y="53309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A"/>
                </a:solidFill>
              </a:rPr>
              <a:t>API layer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08960" y="5257800"/>
            <a:ext cx="777240" cy="256032"/>
          </a:xfrm>
          <a:prstGeom prst="roundRect">
            <a:avLst>
              <a:gd name="adj" fmla="val 21429"/>
            </a:avLst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82112" y="5317236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Redis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959352" y="53309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A"/>
                </a:solidFill>
              </a:rPr>
              <a:t>cache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57800" y="5257800"/>
            <a:ext cx="777240" cy="256032"/>
          </a:xfrm>
          <a:prstGeom prst="roundRect">
            <a:avLst>
              <a:gd name="adj" fmla="val 21429"/>
            </a:avLst>
          </a:prstGeom>
          <a:solidFill>
            <a:srgbClr val="004A98"/>
          </a:solidFill>
          <a:ln w="12700">
            <a:solidFill>
              <a:srgbClr val="004A9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30952" y="5317236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PostgreSQL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108192" y="53309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A"/>
                </a:solidFill>
              </a:rPr>
              <a:t>case store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06640" y="5257800"/>
            <a:ext cx="777240" cy="256032"/>
          </a:xfrm>
          <a:prstGeom prst="roundRect">
            <a:avLst>
              <a:gd name="adj" fmla="val 21429"/>
            </a:avLst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79792" y="5317236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LLM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257032" y="53309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A"/>
                </a:solidFill>
              </a:rPr>
              <a:t>summary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555480" y="5257800"/>
            <a:ext cx="777240" cy="256032"/>
          </a:xfrm>
          <a:prstGeom prst="roundRect">
            <a:avLst>
              <a:gd name="adj" fmla="val 21429"/>
            </a:avLst>
          </a:prstGeom>
          <a:solidFill>
            <a:srgbClr val="004A98"/>
          </a:solidFill>
          <a:ln w="12700">
            <a:solidFill>
              <a:srgbClr val="004A9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28632" y="5317236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Embeddings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0405872" y="53309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A"/>
                </a:solidFill>
              </a:rPr>
              <a:t>similarity</a:t>
            </a:r>
            <a:endParaRPr lang="en-US" sz="9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98"/>
                </a:solidFill>
              </a:rPr>
              <a:t>Universal Sompo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057400" y="333756"/>
            <a:ext cx="164592" cy="164592"/>
          </a:xfrm>
          <a:prstGeom prst="arc">
            <a:avLst/>
          </a:prstGeom>
          <a:noFill/>
          <a:ln w="12700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0" y="3200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58220"/>
                </a:solidFill>
              </a:rPr>
              <a:t>TECHNICAL BUILD PLAN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5D"/>
                </a:solidFill>
              </a:rPr>
              <a:t>Claim understanding layer: from FIR text to structured facts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0"/>
          </a:xfrm>
          <a:prstGeom prst="line">
            <a:avLst/>
          </a:prstGeom>
          <a:noFill/>
          <a:ln w="12700">
            <a:solidFill>
              <a:srgbClr val="D7E4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0020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15D"/>
                </a:solidFill>
              </a:rPr>
              <a:t>Claim schema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28803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52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claim_id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52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accident_date_time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52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loss_location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52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vehicle_numbers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52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vehicle_types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52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parties_involved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52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injury_or_death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52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FIR_cause_narrative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52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police_station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52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district_state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600200"/>
            <a:ext cx="3063240" cy="4206240"/>
          </a:xfrm>
          <a:prstGeom prst="roundRect">
            <a:avLst>
              <a:gd name="adj" fmla="val 2388"/>
            </a:avLst>
          </a:prstGeom>
          <a:solidFill>
            <a:srgbClr val="EAF3FF"/>
          </a:solidFill>
          <a:ln w="12700">
            <a:solidFill>
              <a:srgbClr val="B8D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15D"/>
                </a:solidFill>
              </a:rPr>
              <a:t>Extraction logic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074920" y="2423160"/>
            <a:ext cx="251460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5223B"/>
                </a:solidFill>
              </a:rPr>
              <a:t>OCR / text read for FIR PDFs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5223B"/>
                </a:solidFill>
              </a:rPr>
              <a:t>LLM extraction with JSON schema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5223B"/>
                </a:solidFill>
              </a:rPr>
              <a:t>Entity normalization: place, date, vehicle no.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5223B"/>
                </a:solidFill>
              </a:rPr>
              <a:t>Confidence scores for every field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5223B"/>
                </a:solidFill>
              </a:rPr>
              <a:t>Human correction before final run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66760" y="1600200"/>
            <a:ext cx="2971800" cy="4206240"/>
          </a:xfrm>
          <a:prstGeom prst="roundRect">
            <a:avLst>
              <a:gd name="adj" fmla="val 2462"/>
            </a:avLst>
          </a:prstGeom>
          <a:solidFill>
            <a:srgbClr val="FFF1E5"/>
          </a:solidFill>
          <a:ln w="12700">
            <a:solidFill>
              <a:srgbClr val="FFD5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15D"/>
                </a:solidFill>
              </a:rPr>
              <a:t>Why this is critical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41080" y="24688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223B"/>
                </a:solidFill>
              </a:rPr>
              <a:t>If the claim facts are wrong, every downstream search and fraud signal becomes garbage. We will make fact extraction reviewable before evidence search.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41080" y="434340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14232" y="4402836"/>
            <a:ext cx="1088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QUALITY GATE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641080" y="47365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77A"/>
                </a:solidFill>
              </a:rPr>
              <a:t>No scoring until minimum fields pass confidence threshold.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98"/>
                </a:solidFill>
              </a:rPr>
              <a:t>Universal Sompo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057400" y="333756"/>
            <a:ext cx="164592" cy="164592"/>
          </a:xfrm>
          <a:prstGeom prst="arc">
            <a:avLst/>
          </a:prstGeom>
          <a:noFill/>
          <a:ln w="12700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0" y="3200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58220"/>
                </a:solidFill>
              </a:rPr>
              <a:t>TECHNICAL BUILD PLAN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5D"/>
                </a:solidFill>
              </a:rPr>
              <a:t>Evidence discovery engine: search broad, dedupe hard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0"/>
          </a:xfrm>
          <a:prstGeom prst="line">
            <a:avLst/>
          </a:prstGeom>
          <a:noFill/>
          <a:ln w="12700">
            <a:solidFill>
              <a:srgbClr val="D7E4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B8D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75104"/>
            <a:ext cx="11064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5D"/>
                </a:solidFill>
              </a:rPr>
              <a:t>Claim facts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187452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B8D3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2888" y="1975104"/>
            <a:ext cx="11064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5D"/>
                </a:solidFill>
              </a:rPr>
              <a:t>5–8 queries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187452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B8D3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5968" y="1975104"/>
            <a:ext cx="1380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5D"/>
                </a:solidFill>
              </a:rPr>
              <a:t>News / Web / Images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87452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B8D3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975104"/>
            <a:ext cx="11064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5D"/>
                </a:solidFill>
              </a:rPr>
              <a:t>URL dedupe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01000" y="187452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B8D3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0728" y="1975104"/>
            <a:ext cx="1289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5D"/>
                </a:solidFill>
              </a:rPr>
              <a:t>Text + metadata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966960" y="1874520"/>
            <a:ext cx="1325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B8D3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76688" y="1975104"/>
            <a:ext cx="11064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5D"/>
                </a:solidFill>
              </a:rPr>
              <a:t>Evidence pack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84248" y="2167128"/>
            <a:ext cx="384048" cy="0"/>
          </a:xfrm>
          <a:prstGeom prst="line">
            <a:avLst/>
          </a:prstGeom>
          <a:noFill/>
          <a:ln w="12700">
            <a:solidFill>
              <a:srgbClr val="F5822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67328" y="2167128"/>
            <a:ext cx="384048" cy="0"/>
          </a:xfrm>
          <a:prstGeom prst="line">
            <a:avLst/>
          </a:prstGeom>
          <a:noFill/>
          <a:ln w="12700">
            <a:solidFill>
              <a:srgbClr val="F5822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824728" y="2167128"/>
            <a:ext cx="384048" cy="0"/>
          </a:xfrm>
          <a:prstGeom prst="line">
            <a:avLst/>
          </a:prstGeom>
          <a:noFill/>
          <a:ln w="12700">
            <a:solidFill>
              <a:srgbClr val="F5822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607808" y="2167128"/>
            <a:ext cx="384048" cy="0"/>
          </a:xfrm>
          <a:prstGeom prst="line">
            <a:avLst/>
          </a:prstGeom>
          <a:noFill/>
          <a:ln w="12700">
            <a:solidFill>
              <a:srgbClr val="F5822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528048" y="2167128"/>
            <a:ext cx="384048" cy="0"/>
          </a:xfrm>
          <a:prstGeom prst="line">
            <a:avLst/>
          </a:prstGeom>
          <a:noFill/>
          <a:ln w="12700">
            <a:solidFill>
              <a:srgbClr val="F5822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68680" y="3063240"/>
            <a:ext cx="10378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227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A98"/>
                </a:solidFill>
              </a:rPr>
              <a:t>Query expansion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63240" y="32004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5223B"/>
                </a:solidFill>
              </a:rPr>
              <a:t>“FIR location + accident date”, “vehicle no + district”, “victim name + road accident”, Hindi/local-language variants.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8680" y="3886200"/>
            <a:ext cx="10378440" cy="594360"/>
          </a:xfrm>
          <a:prstGeom prst="roundRect">
            <a:avLst>
              <a:gd name="adj" fmla="val 12308"/>
            </a:avLst>
          </a:prstGeom>
          <a:solidFill>
            <a:srgbClr val="EAF3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40507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A98"/>
                </a:solidFill>
              </a:rPr>
              <a:t>Extraction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063240" y="40233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5223B"/>
                </a:solidFill>
              </a:rPr>
              <a:t>Article body, title, source, publication date, image result URL, snippet, search query used.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68680" y="4709160"/>
            <a:ext cx="10378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873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A98"/>
                </a:solidFill>
              </a:rPr>
              <a:t>Controls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063240" y="48463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5223B"/>
                </a:solidFill>
              </a:rPr>
              <a:t>Rate limiters, retry with backoff, URL canonicalization, same-domain duplicate removal, source whitelist/blacklist.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98"/>
                </a:solidFill>
              </a:rPr>
              <a:t>Universal Sompo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057400" y="333756"/>
            <a:ext cx="164592" cy="164592"/>
          </a:xfrm>
          <a:prstGeom prst="arc">
            <a:avLst/>
          </a:prstGeom>
          <a:noFill/>
          <a:ln w="12700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0" y="3200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58220"/>
                </a:solidFill>
              </a:rPr>
              <a:t>TECHNICAL BUILD PLAN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5D"/>
                </a:solidFill>
              </a:rPr>
              <a:t>Fraud-risk scoring: explainable, weighted, evidence-first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0"/>
          </a:xfrm>
          <a:prstGeom prst="line">
            <a:avLst/>
          </a:prstGeom>
          <a:noFill/>
          <a:ln w="12700">
            <a:solidFill>
              <a:srgbClr val="D7E4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47091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15D"/>
                </a:solidFill>
              </a:rPr>
              <a:t>Score composition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223B"/>
                </a:solidFill>
              </a:rPr>
              <a:t>Semantic similarity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2642616"/>
            <a:ext cx="1554480" cy="146304"/>
          </a:xfrm>
          <a:prstGeom prst="rect">
            <a:avLst/>
          </a:prstGeom>
          <a:solidFill>
            <a:srgbClr val="004A98"/>
          </a:solidFill>
          <a:ln w="12700">
            <a:solidFill>
              <a:srgbClr val="004A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606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77A"/>
                </a:solidFill>
              </a:rPr>
              <a:t>35%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31089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223B"/>
                </a:solidFill>
              </a:rPr>
              <a:t>Keyword / entity match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63240" y="3145536"/>
            <a:ext cx="888274" cy="146304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108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77A"/>
                </a:solidFill>
              </a:rPr>
              <a:t>20%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36118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223B"/>
                </a:solidFill>
              </a:rPr>
              <a:t>Date proximity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63240" y="3648456"/>
            <a:ext cx="666206" cy="14630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61188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77A"/>
                </a:solidFill>
              </a:rPr>
              <a:t>15%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41148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223B"/>
                </a:solidFill>
              </a:rPr>
              <a:t>Location feasibility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63240" y="4151376"/>
            <a:ext cx="666206" cy="146304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41148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77A"/>
                </a:solidFill>
              </a:rPr>
              <a:t>15%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46177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223B"/>
                </a:solidFill>
              </a:rPr>
              <a:t>Source reliability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63240" y="4654296"/>
            <a:ext cx="666206" cy="146304"/>
          </a:xfrm>
          <a:prstGeom prst="rect">
            <a:avLst/>
          </a:prstGeom>
          <a:solidFill>
            <a:srgbClr val="5B677A"/>
          </a:solidFill>
          <a:ln w="12700">
            <a:solidFill>
              <a:srgbClr val="5B67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46177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77A"/>
                </a:solidFill>
              </a:rPr>
              <a:t>15%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15000" y="1691640"/>
            <a:ext cx="5806440" cy="4297680"/>
          </a:xfrm>
          <a:prstGeom prst="roundRect">
            <a:avLst>
              <a:gd name="adj" fmla="val 1702"/>
            </a:avLst>
          </a:prstGeom>
          <a:solidFill>
            <a:srgbClr val="FFF1E5"/>
          </a:solidFill>
          <a:ln w="12700">
            <a:solidFill>
              <a:srgbClr val="FFD5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15D"/>
                </a:solidFill>
              </a:rPr>
              <a:t>Mismatch flags surfaced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989320" y="2606040"/>
            <a:ext cx="777240" cy="256032"/>
          </a:xfrm>
          <a:prstGeom prst="roundRect">
            <a:avLst>
              <a:gd name="adj" fmla="val 21429"/>
            </a:avLst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62472" y="2665476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CAUSE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903720" y="2651760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5223B"/>
                </a:solidFill>
              </a:rPr>
              <a:t>FIR: truck hit bike | News: bike hit truck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3108960"/>
            <a:ext cx="777240" cy="256032"/>
          </a:xfrm>
          <a:prstGeom prst="roundRect">
            <a:avLst>
              <a:gd name="adj" fmla="val 21429"/>
            </a:avLst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62472" y="3168396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LOCATION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903720" y="3154680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5223B"/>
                </a:solidFill>
              </a:rPr>
              <a:t>FIR spot not aligned with public report / map road structure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89320" y="3611880"/>
            <a:ext cx="777240" cy="256032"/>
          </a:xfrm>
          <a:prstGeom prst="roundRect">
            <a:avLst>
              <a:gd name="adj" fmla="val 21429"/>
            </a:avLst>
          </a:prstGeom>
          <a:solidFill>
            <a:srgbClr val="004A98"/>
          </a:solidFill>
          <a:ln w="12700">
            <a:solidFill>
              <a:srgbClr val="004A9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62472" y="3671316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TIME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903720" y="3657600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5223B"/>
                </a:solidFill>
              </a:rPr>
              <a:t>Claim accident date/time far from article timestamp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89320" y="4114800"/>
            <a:ext cx="777240" cy="256032"/>
          </a:xfrm>
          <a:prstGeom prst="roundRect">
            <a:avLst>
              <a:gd name="adj" fmla="val 21429"/>
            </a:avLst>
          </a:prstGeom>
          <a:solidFill>
            <a:srgbClr val="004A98"/>
          </a:solidFill>
          <a:ln w="12700">
            <a:solidFill>
              <a:srgbClr val="004A9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62472" y="4174236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VEHICLE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903720" y="4160520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5223B"/>
                </a:solidFill>
              </a:rPr>
              <a:t>Vehicle number / vehicle type absent or contradictory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989320" y="4617720"/>
            <a:ext cx="777240" cy="256032"/>
          </a:xfrm>
          <a:prstGeom prst="roundRect">
            <a:avLst>
              <a:gd name="adj" fmla="val 21429"/>
            </a:avLst>
          </a:prstGeom>
          <a:solidFill>
            <a:srgbClr val="004A98"/>
          </a:solidFill>
          <a:ln w="12700">
            <a:solidFill>
              <a:srgbClr val="004A9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62472" y="4677156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ENTITY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903720" y="4663440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5223B"/>
                </a:solidFill>
              </a:rPr>
              <a:t>Victim / driver names conflict with public source</a:t>
            </a:r>
            <a:endParaRPr lang="en-US" sz="10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98"/>
                </a:solidFill>
              </a:rPr>
              <a:t>Universal Sompo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057400" y="333756"/>
            <a:ext cx="164592" cy="164592"/>
          </a:xfrm>
          <a:prstGeom prst="arc">
            <a:avLst/>
          </a:prstGeom>
          <a:noFill/>
          <a:ln w="12700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0" y="3200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58220"/>
                </a:solidFill>
              </a:rPr>
              <a:t>TECHNICAL BUILD PLAN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5D"/>
                </a:solidFill>
              </a:rPr>
              <a:t>Investigator output: fast, auditable, non-black-box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0"/>
          </a:xfrm>
          <a:prstGeom prst="line">
            <a:avLst/>
          </a:prstGeom>
          <a:noFill/>
          <a:ln w="12700">
            <a:solidFill>
              <a:srgbClr val="D7E4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0020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15D"/>
                </a:solidFill>
              </a:rPr>
              <a:t>Result API response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2331720"/>
            <a:ext cx="475488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52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52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"case_id": "TP-FLP-RCU-UP-00517/2025",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52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"risk_level": "High Review",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52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"top_mismatches": ["cause", "location"],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52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"evidence": [{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52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"source": "local news",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52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"score": 0.82,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52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"why_relevant": "same victim + district + date"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52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52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1600200"/>
            <a:ext cx="5074920" cy="4389120"/>
          </a:xfrm>
          <a:prstGeom prst="roundRect">
            <a:avLst>
              <a:gd name="adj" fmla="val 1667"/>
            </a:avLst>
          </a:prstGeom>
          <a:solidFill>
            <a:srgbClr val="EAF3FF"/>
          </a:solidFill>
          <a:ln w="12700">
            <a:solidFill>
              <a:srgbClr val="B8D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15D"/>
                </a:solidFill>
              </a:rPr>
              <a:t>Investigator report sections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75120" y="2423160"/>
            <a:ext cx="434340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5223B"/>
                </a:solidFill>
              </a:rPr>
              <a:t>Claim facts extracted from FIR/Quest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5223B"/>
                </a:solidFill>
              </a:rPr>
              <a:t>Evidence table with URL, source, date, score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5223B"/>
                </a:solidFill>
              </a:rPr>
              <a:t>Mismatch analysis: FIR vs News vs Map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5223B"/>
                </a:solidFill>
              </a:rPr>
              <a:t>Recommended next verification: CCTV / IO / spot survey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5223B"/>
                </a:solidFill>
              </a:rPr>
              <a:t>Export to Excel/PDF for RCU handoff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5120" y="521208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5271516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HUMAN-IN-LOOP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275320" y="5248656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04A98"/>
                </a:solidFill>
              </a:rPr>
              <a:t>System gives evidence + rationale. Universal Sompo investigator makes the final decision.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98"/>
                </a:solidFill>
              </a:rPr>
              <a:t>Universal Sompo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057400" y="333756"/>
            <a:ext cx="164592" cy="164592"/>
          </a:xfrm>
          <a:prstGeom prst="arc">
            <a:avLst/>
          </a:prstGeom>
          <a:noFill/>
          <a:ln w="12700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0" y="3200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58220"/>
                </a:solidFill>
              </a:rPr>
              <a:t>TECHNICAL BUILD PLAN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5D"/>
                </a:solidFill>
              </a:rPr>
              <a:t>8L pilot delivery plan: 6 weeks, usable not theatrical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0"/>
          </a:xfrm>
          <a:prstGeom prst="line">
            <a:avLst/>
          </a:prstGeom>
          <a:noFill/>
          <a:ln w="12700">
            <a:solidFill>
              <a:srgbClr val="D7E4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28800"/>
            <a:ext cx="1600200" cy="315468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57400"/>
            <a:ext cx="530352" cy="256032"/>
          </a:xfrm>
          <a:prstGeom prst="roundRect">
            <a:avLst>
              <a:gd name="adj" fmla="val 21429"/>
            </a:avLst>
          </a:prstGeom>
          <a:solidFill>
            <a:srgbClr val="004A98"/>
          </a:solidFill>
          <a:ln w="12700">
            <a:solidFill>
              <a:srgbClr val="004A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1168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58952" y="25420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315D"/>
                </a:solidFill>
              </a:rPr>
              <a:t>Discovery + schema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952" y="324612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5223B"/>
                </a:solidFill>
              </a:rPr>
              <a:t>Quest fields, FIR formats, sample cases, acceptance criteria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0" y="1828800"/>
            <a:ext cx="1600200" cy="3154680"/>
          </a:xfrm>
          <a:prstGeom prst="roundRect">
            <a:avLst>
              <a:gd name="adj" fmla="val 4571"/>
            </a:avLst>
          </a:prstGeom>
          <a:solidFill>
            <a:srgbClr val="FFF1E5"/>
          </a:solidFill>
          <a:ln w="12700">
            <a:solidFill>
              <a:srgbClr val="FFD5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2057400"/>
            <a:ext cx="530352" cy="256032"/>
          </a:xfrm>
          <a:prstGeom prst="roundRect">
            <a:avLst>
              <a:gd name="adj" fmla="val 21429"/>
            </a:avLst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912" y="21168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633472" y="25420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315D"/>
                </a:solidFill>
              </a:rPr>
              <a:t>Ingestion MVP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33472" y="324612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5223B"/>
                </a:solidFill>
              </a:rPr>
              <a:t>OCR/text parsing, structured JSON extraction, human review screen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43400" y="1828800"/>
            <a:ext cx="1600200" cy="315468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26280" y="2057400"/>
            <a:ext cx="530352" cy="256032"/>
          </a:xfrm>
          <a:prstGeom prst="roundRect">
            <a:avLst>
              <a:gd name="adj" fmla="val 21429"/>
            </a:avLst>
          </a:prstGeom>
          <a:solidFill>
            <a:srgbClr val="004A98"/>
          </a:solidFill>
          <a:ln w="12700">
            <a:solidFill>
              <a:srgbClr val="004A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21168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07992" y="25420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315D"/>
                </a:solidFill>
              </a:rPr>
              <a:t>Search engine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07992" y="324612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5223B"/>
                </a:solidFill>
              </a:rPr>
              <a:t>Query expansion, Serp/Bing integration, async fetch, dedupe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1828800"/>
            <a:ext cx="1600200" cy="3154680"/>
          </a:xfrm>
          <a:prstGeom prst="roundRect">
            <a:avLst>
              <a:gd name="adj" fmla="val 4571"/>
            </a:avLst>
          </a:prstGeom>
          <a:solidFill>
            <a:srgbClr val="FFF1E5"/>
          </a:solidFill>
          <a:ln w="12700">
            <a:solidFill>
              <a:srgbClr val="FFD5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2057400"/>
            <a:ext cx="530352" cy="256032"/>
          </a:xfrm>
          <a:prstGeom prst="roundRect">
            <a:avLst>
              <a:gd name="adj" fmla="val 21429"/>
            </a:avLst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21168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W4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382512" y="25420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315D"/>
                </a:solidFill>
              </a:rPr>
              <a:t>Scoring engine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82512" y="324612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5223B"/>
                </a:solidFill>
              </a:rPr>
              <a:t>Similarity, keyword, date, source, location flags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92440" y="1828800"/>
            <a:ext cx="1600200" cy="315468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4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75320" y="2057400"/>
            <a:ext cx="530352" cy="256032"/>
          </a:xfrm>
          <a:prstGeom prst="roundRect">
            <a:avLst>
              <a:gd name="adj" fmla="val 21429"/>
            </a:avLst>
          </a:prstGeom>
          <a:solidFill>
            <a:srgbClr val="004A98"/>
          </a:solidFill>
          <a:ln w="12700">
            <a:solidFill>
              <a:srgbClr val="004A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48472" y="21168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W5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257032" y="25420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315D"/>
                </a:solidFill>
              </a:rPr>
              <a:t>Report/API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57032" y="324612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5223B"/>
                </a:solidFill>
              </a:rPr>
              <a:t>FastAPI endpoints, Excel/PDF output, audit log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966960" y="1828800"/>
            <a:ext cx="1600200" cy="3154680"/>
          </a:xfrm>
          <a:prstGeom prst="roundRect">
            <a:avLst>
              <a:gd name="adj" fmla="val 4571"/>
            </a:avLst>
          </a:prstGeom>
          <a:solidFill>
            <a:srgbClr val="FFF1E5"/>
          </a:solidFill>
          <a:ln w="12700">
            <a:solidFill>
              <a:srgbClr val="FFD5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49840" y="2057400"/>
            <a:ext cx="530352" cy="256032"/>
          </a:xfrm>
          <a:prstGeom prst="roundRect">
            <a:avLst>
              <a:gd name="adj" fmla="val 21429"/>
            </a:avLst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22992" y="21168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W6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0131552" y="25420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315D"/>
                </a:solidFill>
              </a:rPr>
              <a:t>UAT + handover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131552" y="324612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5223B"/>
                </a:solidFill>
              </a:rPr>
              <a:t>Test cases, calibration, deployment package, tech docs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60120" y="5440680"/>
            <a:ext cx="10195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43000" y="5650992"/>
            <a:ext cx="9829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4A98"/>
                </a:solidFill>
              </a:rPr>
              <a:t>Pilot success metrics: ≥70% reduction in manual evidence search time, ≥80% precision on top-3 evidence relevance, 100% audit trail for outputs, no auto-claim rejection.</a:t>
            </a:r>
            <a:endParaRPr lang="en-US" sz="12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98"/>
                </a:solidFill>
              </a:rPr>
              <a:t>Universal Sompo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057400" y="333756"/>
            <a:ext cx="164592" cy="164592"/>
          </a:xfrm>
          <a:prstGeom prst="arc">
            <a:avLst/>
          </a:prstGeom>
          <a:noFill/>
          <a:ln w="12700">
            <a:solidFill>
              <a:srgbClr val="F58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0" y="3200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58220"/>
                </a:solidFill>
              </a:rPr>
              <a:t>TECHNICAL BUILD PLAN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5D"/>
                </a:solidFill>
              </a:rPr>
              <a:t>Implementation risks + decisions needed from Universal Sompo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0"/>
          </a:xfrm>
          <a:prstGeom prst="line">
            <a:avLst/>
          </a:prstGeom>
          <a:noFill/>
          <a:ln w="12700">
            <a:solidFill>
              <a:srgbClr val="D7E4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4592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42318"/>
                </a:solidFill>
              </a:rPr>
              <a:t>Risks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423160"/>
            <a:ext cx="283464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5223B"/>
                </a:solidFill>
              </a:rPr>
              <a:t>Sparse public data for rural accidents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5223B"/>
                </a:solidFill>
              </a:rPr>
              <a:t>Messy Hindi/local news extraction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5223B"/>
                </a:solidFill>
              </a:rPr>
              <a:t>Search API latency / quota cost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5223B"/>
                </a:solidFill>
              </a:rPr>
              <a:t>FIR OCR errors and inconsistent formats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5223B"/>
                </a:solidFill>
              </a:rPr>
              <a:t>False positives if evidence is treated as proof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164592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E9F7F5"/>
          </a:solidFill>
          <a:ln w="12700">
            <a:solidFill>
              <a:srgbClr val="BDE8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8B8D"/>
                </a:solidFill>
              </a:rPr>
              <a:t>Controls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2423160"/>
            <a:ext cx="283464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5223B"/>
                </a:solidFill>
              </a:rPr>
              <a:t>Confidence score per extracted field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5223B"/>
                </a:solidFill>
              </a:rPr>
              <a:t>Source + query audit trail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5223B"/>
                </a:solidFill>
              </a:rPr>
              <a:t>Human approval before final report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5223B"/>
                </a:solidFill>
              </a:rPr>
              <a:t>Calibration with historical cases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5223B"/>
                </a:solidFill>
              </a:rPr>
              <a:t>PII redaction and access controls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21040" y="1645920"/>
            <a:ext cx="2971800" cy="4297680"/>
          </a:xfrm>
          <a:prstGeom prst="roundRect">
            <a:avLst>
              <a:gd name="adj" fmla="val 2462"/>
            </a:avLst>
          </a:prstGeom>
          <a:solidFill>
            <a:srgbClr val="FFF1E5"/>
          </a:solidFill>
          <a:ln w="12700">
            <a:solidFill>
              <a:srgbClr val="FFD5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1920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15D"/>
                </a:solidFill>
              </a:rPr>
              <a:t>Decisions needed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95360" y="2423160"/>
            <a:ext cx="233172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5223B"/>
                </a:solidFill>
              </a:rPr>
              <a:t>Confirm Quest integration mode: API / export / manual upload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5223B"/>
                </a:solidFill>
              </a:rPr>
              <a:t>Approve search API vendor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5223B"/>
                </a:solidFill>
              </a:rPr>
              <a:t>Provide sample cases + ground truth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5223B"/>
                </a:solidFill>
              </a:rPr>
              <a:t>Nominate RCU reviewer for weekly UAT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5223B"/>
                </a:solidFill>
              </a:rPr>
              <a:t>Confirm deployment: cloud or on-prem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1458</Words>
  <Application>Microsoft Office PowerPoint</Application>
  <PresentationFormat>Widescreen</PresentationFormat>
  <Paragraphs>218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Universal Sompo / Project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Claim Evidence Finder - Technical Build Plan</dc:title>
  <dc:subject>Universal Sompo AI Claim Evidence Finder - Technical Build Plan</dc:subject>
  <dc:creator>OpenAI</dc:creator>
  <cp:lastModifiedBy>Garv Arora</cp:lastModifiedBy>
  <cp:revision>2</cp:revision>
  <dcterms:created xsi:type="dcterms:W3CDTF">2026-04-28T21:04:24Z</dcterms:created>
  <dcterms:modified xsi:type="dcterms:W3CDTF">2026-04-28T21:07:22Z</dcterms:modified>
</cp:coreProperties>
</file>