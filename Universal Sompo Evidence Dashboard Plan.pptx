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6FC"/>
        </a:solidFill>
      </p:bgPr>
    </p:bg>
    <p:spTree>
      <p:nvGrpSpPr>
        <p:cNvPr id="1" name=""/>
        <p:cNvGrpSpPr/>
        <p:nvPr/>
      </p:nvGrpSpPr>
      <p:grpSpPr>
        <a:xfrm>
          <a:off x="0" y="0"/>
          <a:ext cx="0" cy="0"/>
          <a:chOff x="0" y="0"/>
          <a:chExt cx="0" cy="0"/>
        </a:xfrm>
      </p:grpSpPr>
      <p:sp>
        <p:nvSpPr>
          <p:cNvPr id="2" name="Shape 0"/>
          <p:cNvSpPr/>
          <p:nvPr/>
        </p:nvSpPr>
        <p:spPr>
          <a:xfrm>
            <a:off x="0" y="0"/>
            <a:ext cx="4526280" cy="6858000"/>
          </a:xfrm>
          <a:prstGeom prst="rect">
            <a:avLst/>
          </a:prstGeom>
          <a:solidFill>
            <a:srgbClr val="15223B"/>
          </a:solidFill>
          <a:ln/>
        </p:spPr>
      </p:sp>
      <p:sp>
        <p:nvSpPr>
          <p:cNvPr id="3" name="Shape 1"/>
          <p:cNvSpPr/>
          <p:nvPr/>
        </p:nvSpPr>
        <p:spPr>
          <a:xfrm>
            <a:off x="4526280" y="0"/>
            <a:ext cx="7665415" cy="128016"/>
          </a:xfrm>
          <a:prstGeom prst="rect">
            <a:avLst/>
          </a:prstGeom>
          <a:solidFill>
            <a:srgbClr val="00315D"/>
          </a:solidFill>
          <a:ln/>
        </p:spPr>
      </p:sp>
      <p:sp>
        <p:nvSpPr>
          <p:cNvPr id="4" name="Shape 2"/>
          <p:cNvSpPr/>
          <p:nvPr/>
        </p:nvSpPr>
        <p:spPr>
          <a:xfrm>
            <a:off x="4526280" y="128016"/>
            <a:ext cx="7665415" cy="45720"/>
          </a:xfrm>
          <a:prstGeom prst="rect">
            <a:avLst/>
          </a:prstGeom>
          <a:solidFill>
            <a:srgbClr val="F58220"/>
          </a:solidFill>
          <a:ln/>
        </p:spPr>
      </p:sp>
      <p:sp>
        <p:nvSpPr>
          <p:cNvPr id="5" name="Shape 3"/>
          <p:cNvSpPr/>
          <p:nvPr/>
        </p:nvSpPr>
        <p:spPr>
          <a:xfrm>
            <a:off x="0" y="6693408"/>
            <a:ext cx="12191695" cy="164592"/>
          </a:xfrm>
          <a:prstGeom prst="rect">
            <a:avLst/>
          </a:prstGeom>
          <a:solidFill>
            <a:srgbClr val="F58220"/>
          </a:solidFill>
          <a:ln/>
        </p:spPr>
      </p:sp>
      <p:sp>
        <p:nvSpPr>
          <p:cNvPr id="6" name="Text 4"/>
          <p:cNvSpPr/>
          <p:nvPr/>
        </p:nvSpPr>
        <p:spPr>
          <a:xfrm>
            <a:off x="502920" y="713232"/>
            <a:ext cx="3703320" cy="457200"/>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Universal Sompo</a:t>
            </a:r>
            <a:endParaRPr lang="en-US" sz="1700" dirty="0"/>
          </a:p>
        </p:txBody>
      </p:sp>
      <p:sp>
        <p:nvSpPr>
          <p:cNvPr id="7" name="Text 5"/>
          <p:cNvSpPr/>
          <p:nvPr/>
        </p:nvSpPr>
        <p:spPr>
          <a:xfrm>
            <a:off x="502920" y="1874520"/>
            <a:ext cx="3794760" cy="2011680"/>
          </a:xfrm>
          <a:prstGeom prst="rect">
            <a:avLst/>
          </a:prstGeom>
          <a:noFill/>
          <a:ln/>
        </p:spPr>
        <p:txBody>
          <a:bodyPr wrap="square" lIns="0" tIns="0" rIns="0" bIns="0" rtlCol="0" anchor="t"/>
          <a:lstStyle/>
          <a:p>
            <a:pPr algn="l" indent="0" marL="0">
              <a:lnSpc>
                <a:spcPct val="100000"/>
              </a:lnSpc>
              <a:buNone/>
            </a:pPr>
            <a:r>
              <a:rPr lang="en-US" sz="4000" b="1" dirty="0">
                <a:solidFill>
                  <a:srgbClr val="FFFFFF"/>
                </a:solidFill>
                <a:latin typeface="Arial" pitchFamily="34" charset="0"/>
                <a:ea typeface="Arial" pitchFamily="34" charset="-122"/>
                <a:cs typeface="Arial" pitchFamily="34" charset="-120"/>
              </a:rPr>
              <a:t>AI Claim</a:t>
            </a:r>
            <a:endParaRPr lang="en-US" sz="4000" dirty="0"/>
          </a:p>
          <a:p>
            <a:pPr algn="l" indent="0" marL="0">
              <a:lnSpc>
                <a:spcPct val="100000"/>
              </a:lnSpc>
              <a:buNone/>
            </a:pPr>
            <a:r>
              <a:rPr lang="en-US" sz="4000" b="1" dirty="0">
                <a:solidFill>
                  <a:srgbClr val="FFFFFF"/>
                </a:solidFill>
                <a:latin typeface="Arial" pitchFamily="34" charset="0"/>
                <a:ea typeface="Arial" pitchFamily="34" charset="-122"/>
                <a:cs typeface="Arial" pitchFamily="34" charset="-120"/>
              </a:rPr>
              <a:t>Evidence</a:t>
            </a:r>
            <a:endParaRPr lang="en-US" sz="4000" dirty="0"/>
          </a:p>
          <a:p>
            <a:pPr algn="l" indent="0" marL="0">
              <a:lnSpc>
                <a:spcPct val="100000"/>
              </a:lnSpc>
              <a:buNone/>
            </a:pPr>
            <a:r>
              <a:rPr lang="en-US" sz="4000" b="1" dirty="0">
                <a:solidFill>
                  <a:srgbClr val="FFFFFF"/>
                </a:solidFill>
                <a:latin typeface="Arial" pitchFamily="34" charset="0"/>
                <a:ea typeface="Arial" pitchFamily="34" charset="-122"/>
                <a:cs typeface="Arial" pitchFamily="34" charset="-120"/>
              </a:rPr>
              <a:t>Dashboard</a:t>
            </a:r>
            <a:endParaRPr lang="en-US" sz="4000" dirty="0"/>
          </a:p>
        </p:txBody>
      </p:sp>
      <p:sp>
        <p:nvSpPr>
          <p:cNvPr id="8" name="Text 6"/>
          <p:cNvSpPr/>
          <p:nvPr/>
        </p:nvSpPr>
        <p:spPr>
          <a:xfrm>
            <a:off x="521208" y="4160520"/>
            <a:ext cx="3611880" cy="914400"/>
          </a:xfrm>
          <a:prstGeom prst="rect">
            <a:avLst/>
          </a:prstGeom>
          <a:noFill/>
          <a:ln/>
        </p:spPr>
        <p:txBody>
          <a:bodyPr wrap="square" lIns="0" tIns="0" rIns="0" bIns="0" rtlCol="0" anchor="t"/>
          <a:lstStyle/>
          <a:p>
            <a:pPr algn="l" indent="0" marL="0">
              <a:lnSpc>
                <a:spcPct val="112000"/>
              </a:lnSpc>
              <a:buNone/>
            </a:pPr>
            <a:r>
              <a:rPr lang="en-US" sz="1450" dirty="0">
                <a:solidFill>
                  <a:srgbClr val="C7D6EA"/>
                </a:solidFill>
                <a:latin typeface="Arial" pitchFamily="34" charset="0"/>
                <a:ea typeface="Arial" pitchFamily="34" charset="-122"/>
                <a:cs typeface="Arial" pitchFamily="34" charset="-120"/>
              </a:rPr>
              <a:t>How the dashboard finds, aggregates and ranks evidence for every complaint.</a:t>
            </a:r>
            <a:endParaRPr lang="en-US" sz="1450" dirty="0"/>
          </a:p>
        </p:txBody>
      </p:sp>
      <p:sp>
        <p:nvSpPr>
          <p:cNvPr id="9" name="Shape 7"/>
          <p:cNvSpPr/>
          <p:nvPr/>
        </p:nvSpPr>
        <p:spPr>
          <a:xfrm>
            <a:off x="521208" y="5257800"/>
            <a:ext cx="2331720" cy="420624"/>
          </a:xfrm>
          <a:prstGeom prst="roundRect">
            <a:avLst>
              <a:gd name="adj" fmla="val 50000"/>
            </a:avLst>
          </a:prstGeom>
          <a:solidFill>
            <a:srgbClr val="F58220"/>
          </a:solidFill>
          <a:ln/>
        </p:spPr>
      </p:sp>
      <p:sp>
        <p:nvSpPr>
          <p:cNvPr id="10" name="Text 8"/>
          <p:cNvSpPr/>
          <p:nvPr/>
        </p:nvSpPr>
        <p:spPr>
          <a:xfrm>
            <a:off x="521208" y="5257800"/>
            <a:ext cx="2331720" cy="420624"/>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rial" pitchFamily="34" charset="0"/>
                <a:ea typeface="Arial" pitchFamily="34" charset="-122"/>
                <a:cs typeface="Arial" pitchFamily="34" charset="-120"/>
              </a:rPr>
              <a:t>HOW IT WILL BE BUILT</a:t>
            </a:r>
            <a:endParaRPr lang="en-US" sz="1050" dirty="0"/>
          </a:p>
        </p:txBody>
      </p:sp>
      <p:sp>
        <p:nvSpPr>
          <p:cNvPr id="11" name="Text 9"/>
          <p:cNvSpPr/>
          <p:nvPr/>
        </p:nvSpPr>
        <p:spPr>
          <a:xfrm>
            <a:off x="5029200" y="640080"/>
            <a:ext cx="6705295" cy="1097280"/>
          </a:xfrm>
          <a:prstGeom prst="rect">
            <a:avLst/>
          </a:prstGeom>
          <a:noFill/>
          <a:ln/>
        </p:spPr>
        <p:txBody>
          <a:bodyPr wrap="square" lIns="0" tIns="0" rIns="0" bIns="0" rtlCol="0" anchor="ctr"/>
          <a:lstStyle/>
          <a:p>
            <a:pPr algn="l" indent="0" marL="0">
              <a:lnSpc>
                <a:spcPct val="105000"/>
              </a:lnSpc>
              <a:buNone/>
            </a:pPr>
            <a:r>
              <a:rPr lang="en-US" sz="2400" b="1" dirty="0">
                <a:solidFill>
                  <a:srgbClr val="15223B"/>
                </a:solidFill>
                <a:latin typeface="Arial" pitchFamily="34" charset="0"/>
                <a:ea typeface="Arial" pitchFamily="34" charset="-122"/>
                <a:cs typeface="Arial" pitchFamily="34" charset="-120"/>
              </a:rPr>
              <a:t>For Universal Sompo claims and RCU investigation stakeholders</a:t>
            </a:r>
            <a:endParaRPr lang="en-US" sz="2400" dirty="0"/>
          </a:p>
        </p:txBody>
      </p:sp>
      <p:sp>
        <p:nvSpPr>
          <p:cNvPr id="12" name="Shape 10"/>
          <p:cNvSpPr/>
          <p:nvPr/>
        </p:nvSpPr>
        <p:spPr>
          <a:xfrm>
            <a:off x="5029200" y="2331720"/>
            <a:ext cx="2121408" cy="841248"/>
          </a:xfrm>
          <a:prstGeom prst="roundRect">
            <a:avLst>
              <a:gd name="adj" fmla="val 8696"/>
            </a:avLst>
          </a:prstGeom>
          <a:solidFill>
            <a:srgbClr val="FFFFFF"/>
          </a:solidFill>
          <a:ln w="15875">
            <a:solidFill>
              <a:srgbClr val="B8D3EF"/>
            </a:solidFill>
            <a:prstDash val="solid"/>
          </a:ln>
          <a:effectLst>
            <a:outerShdw sx="100000" sy="100000" kx="0" ky="0" algn="bl" rotWithShape="0" blurRad="88900" dist="38100" dir="5400000">
              <a:srgbClr val="9FB3CC">
                <a:alpha val="28000"/>
              </a:srgbClr>
            </a:outerShdw>
          </a:effectLst>
        </p:spPr>
      </p:sp>
      <p:sp>
        <p:nvSpPr>
          <p:cNvPr id="13" name="Text 11"/>
          <p:cNvSpPr/>
          <p:nvPr/>
        </p:nvSpPr>
        <p:spPr>
          <a:xfrm>
            <a:off x="5074920" y="2331720"/>
            <a:ext cx="2029968" cy="841248"/>
          </a:xfrm>
          <a:prstGeom prst="rect">
            <a:avLst/>
          </a:prstGeom>
          <a:noFill/>
          <a:ln/>
        </p:spPr>
        <p:txBody>
          <a:bodyPr wrap="square" lIns="0" tIns="0" rIns="0" bIns="0" rtlCol="0" anchor="ctr"/>
          <a:lstStyle/>
          <a:p>
            <a:pPr algn="ctr" indent="0" marL="0">
              <a:buNone/>
            </a:pPr>
            <a:r>
              <a:rPr lang="en-US" sz="1250" b="1" dirty="0">
                <a:solidFill>
                  <a:srgbClr val="15223B"/>
                </a:solidFill>
                <a:latin typeface="Arial" pitchFamily="34" charset="0"/>
                <a:ea typeface="Arial" pitchFamily="34" charset="-122"/>
                <a:cs typeface="Arial" pitchFamily="34" charset="-120"/>
              </a:rPr>
              <a:t>Complaint</a:t>
            </a:r>
            <a:endParaRPr lang="en-US" sz="1250" dirty="0"/>
          </a:p>
          <a:p>
            <a:pPr algn="ctr" indent="0" marL="0">
              <a:buNone/>
            </a:pPr>
            <a:r>
              <a:rPr lang="en-US" sz="1250" b="1" dirty="0">
                <a:solidFill>
                  <a:srgbClr val="15223B"/>
                </a:solidFill>
                <a:latin typeface="Arial" pitchFamily="34" charset="0"/>
                <a:ea typeface="Arial" pitchFamily="34" charset="-122"/>
                <a:cs typeface="Arial" pitchFamily="34" charset="-120"/>
              </a:rPr>
              <a:t>Input</a:t>
            </a:r>
            <a:endParaRPr lang="en-US" sz="1250" dirty="0"/>
          </a:p>
        </p:txBody>
      </p:sp>
      <p:sp>
        <p:nvSpPr>
          <p:cNvPr id="14" name="Shape 12"/>
          <p:cNvSpPr/>
          <p:nvPr/>
        </p:nvSpPr>
        <p:spPr>
          <a:xfrm>
            <a:off x="7205472" y="2752344"/>
            <a:ext cx="60808" cy="0"/>
          </a:xfrm>
          <a:prstGeom prst="line">
            <a:avLst/>
          </a:prstGeom>
          <a:noFill/>
          <a:ln w="31750">
            <a:solidFill>
              <a:srgbClr val="F58220"/>
            </a:solidFill>
            <a:prstDash val="solid"/>
            <a:tailEnd type="triangle"/>
          </a:ln>
        </p:spPr>
      </p:sp>
      <p:sp>
        <p:nvSpPr>
          <p:cNvPr id="15" name="Shape 13"/>
          <p:cNvSpPr/>
          <p:nvPr/>
        </p:nvSpPr>
        <p:spPr>
          <a:xfrm>
            <a:off x="7321144" y="2331720"/>
            <a:ext cx="2121408" cy="841248"/>
          </a:xfrm>
          <a:prstGeom prst="roundRect">
            <a:avLst>
              <a:gd name="adj" fmla="val 8696"/>
            </a:avLst>
          </a:prstGeom>
          <a:solidFill>
            <a:srgbClr val="DCE8F6"/>
          </a:solidFill>
          <a:ln w="15875">
            <a:solidFill>
              <a:srgbClr val="B8D3EF"/>
            </a:solidFill>
            <a:prstDash val="solid"/>
          </a:ln>
          <a:effectLst>
            <a:outerShdw sx="100000" sy="100000" kx="0" ky="0" algn="bl" rotWithShape="0" blurRad="88900" dist="38100" dir="5400000">
              <a:srgbClr val="9FB3CC">
                <a:alpha val="28000"/>
              </a:srgbClr>
            </a:outerShdw>
          </a:effectLst>
        </p:spPr>
      </p:sp>
      <p:sp>
        <p:nvSpPr>
          <p:cNvPr id="16" name="Text 14"/>
          <p:cNvSpPr/>
          <p:nvPr/>
        </p:nvSpPr>
        <p:spPr>
          <a:xfrm>
            <a:off x="7366864" y="2331720"/>
            <a:ext cx="2029968" cy="841248"/>
          </a:xfrm>
          <a:prstGeom prst="rect">
            <a:avLst/>
          </a:prstGeom>
          <a:noFill/>
          <a:ln/>
        </p:spPr>
        <p:txBody>
          <a:bodyPr wrap="square" lIns="0" tIns="0" rIns="0" bIns="0" rtlCol="0" anchor="ctr"/>
          <a:lstStyle/>
          <a:p>
            <a:pPr algn="ctr" indent="0" marL="0">
              <a:buNone/>
            </a:pPr>
            <a:r>
              <a:rPr lang="en-US" sz="1250" b="1" dirty="0">
                <a:solidFill>
                  <a:srgbClr val="15223B"/>
                </a:solidFill>
                <a:latin typeface="Arial" pitchFamily="34" charset="0"/>
                <a:ea typeface="Arial" pitchFamily="34" charset="-122"/>
                <a:cs typeface="Arial" pitchFamily="34" charset="-120"/>
              </a:rPr>
              <a:t>Multi-Source</a:t>
            </a:r>
            <a:endParaRPr lang="en-US" sz="1250" dirty="0"/>
          </a:p>
          <a:p>
            <a:pPr algn="ctr" indent="0" marL="0">
              <a:buNone/>
            </a:pPr>
            <a:r>
              <a:rPr lang="en-US" sz="1250" b="1" dirty="0">
                <a:solidFill>
                  <a:srgbClr val="15223B"/>
                </a:solidFill>
                <a:latin typeface="Arial" pitchFamily="34" charset="0"/>
                <a:ea typeface="Arial" pitchFamily="34" charset="-122"/>
                <a:cs typeface="Arial" pitchFamily="34" charset="-120"/>
              </a:rPr>
              <a:t>Search</a:t>
            </a:r>
            <a:endParaRPr lang="en-US" sz="1250" dirty="0"/>
          </a:p>
        </p:txBody>
      </p:sp>
      <p:sp>
        <p:nvSpPr>
          <p:cNvPr id="17" name="Shape 15"/>
          <p:cNvSpPr/>
          <p:nvPr/>
        </p:nvSpPr>
        <p:spPr>
          <a:xfrm>
            <a:off x="9497416" y="2752344"/>
            <a:ext cx="60808" cy="0"/>
          </a:xfrm>
          <a:prstGeom prst="line">
            <a:avLst/>
          </a:prstGeom>
          <a:noFill/>
          <a:ln w="31750">
            <a:solidFill>
              <a:srgbClr val="F58220"/>
            </a:solidFill>
            <a:prstDash val="solid"/>
            <a:tailEnd type="triangle"/>
          </a:ln>
        </p:spPr>
      </p:sp>
      <p:sp>
        <p:nvSpPr>
          <p:cNvPr id="18" name="Shape 16"/>
          <p:cNvSpPr/>
          <p:nvPr/>
        </p:nvSpPr>
        <p:spPr>
          <a:xfrm>
            <a:off x="9613087" y="2331720"/>
            <a:ext cx="2121408" cy="841248"/>
          </a:xfrm>
          <a:prstGeom prst="roundRect">
            <a:avLst>
              <a:gd name="adj" fmla="val 8696"/>
            </a:avLst>
          </a:prstGeom>
          <a:solidFill>
            <a:srgbClr val="FFFFFF"/>
          </a:solidFill>
          <a:ln w="15875">
            <a:solidFill>
              <a:srgbClr val="B8D3EF"/>
            </a:solidFill>
            <a:prstDash val="solid"/>
          </a:ln>
          <a:effectLst>
            <a:outerShdw sx="100000" sy="100000" kx="0" ky="0" algn="bl" rotWithShape="0" blurRad="88900" dist="38100" dir="5400000">
              <a:srgbClr val="9FB3CC">
                <a:alpha val="28000"/>
              </a:srgbClr>
            </a:outerShdw>
          </a:effectLst>
        </p:spPr>
      </p:sp>
      <p:sp>
        <p:nvSpPr>
          <p:cNvPr id="19" name="Text 17"/>
          <p:cNvSpPr/>
          <p:nvPr/>
        </p:nvSpPr>
        <p:spPr>
          <a:xfrm>
            <a:off x="9658807" y="2331720"/>
            <a:ext cx="2029968" cy="841248"/>
          </a:xfrm>
          <a:prstGeom prst="rect">
            <a:avLst/>
          </a:prstGeom>
          <a:noFill/>
          <a:ln/>
        </p:spPr>
        <p:txBody>
          <a:bodyPr wrap="square" lIns="0" tIns="0" rIns="0" bIns="0" rtlCol="0" anchor="ctr"/>
          <a:lstStyle/>
          <a:p>
            <a:pPr algn="ctr" indent="0" marL="0">
              <a:buNone/>
            </a:pPr>
            <a:r>
              <a:rPr lang="en-US" sz="1250" b="1" dirty="0">
                <a:solidFill>
                  <a:srgbClr val="15223B"/>
                </a:solidFill>
                <a:latin typeface="Arial" pitchFamily="34" charset="0"/>
                <a:ea typeface="Arial" pitchFamily="34" charset="-122"/>
                <a:cs typeface="Arial" pitchFamily="34" charset="-120"/>
              </a:rPr>
              <a:t>10 Ranked</a:t>
            </a:r>
            <a:endParaRPr lang="en-US" sz="1250" dirty="0"/>
          </a:p>
          <a:p>
            <a:pPr algn="ctr" indent="0" marL="0">
              <a:buNone/>
            </a:pPr>
            <a:r>
              <a:rPr lang="en-US" sz="1250" b="1" dirty="0">
                <a:solidFill>
                  <a:srgbClr val="15223B"/>
                </a:solidFill>
                <a:latin typeface="Arial" pitchFamily="34" charset="0"/>
                <a:ea typeface="Arial" pitchFamily="34" charset="-122"/>
                <a:cs typeface="Arial" pitchFamily="34" charset="-120"/>
              </a:rPr>
              <a:t>Links</a:t>
            </a:r>
            <a:endParaRPr lang="en-US" sz="1250" dirty="0"/>
          </a:p>
        </p:txBody>
      </p:sp>
      <p:sp>
        <p:nvSpPr>
          <p:cNvPr id="20" name="Shape 18"/>
          <p:cNvSpPr/>
          <p:nvPr/>
        </p:nvSpPr>
        <p:spPr>
          <a:xfrm>
            <a:off x="5029200" y="3703320"/>
            <a:ext cx="6705295" cy="2148840"/>
          </a:xfrm>
          <a:prstGeom prst="roundRect">
            <a:avLst>
              <a:gd name="adj" fmla="val 4255"/>
            </a:avLst>
          </a:prstGeom>
          <a:solidFill>
            <a:srgbClr val="F7FBFF"/>
          </a:solidFill>
          <a:ln w="12700">
            <a:solidFill>
              <a:srgbClr val="B8D3EF"/>
            </a:solidFill>
            <a:prstDash val="solid"/>
          </a:ln>
          <a:effectLst>
            <a:outerShdw sx="100000" sy="100000" kx="0" ky="0" algn="bl" rotWithShape="0" blurRad="88900" dist="38100" dir="5400000">
              <a:srgbClr val="9FB3CC">
                <a:alpha val="28000"/>
              </a:srgbClr>
            </a:outerShdw>
          </a:effectLst>
        </p:spPr>
      </p:sp>
      <p:sp>
        <p:nvSpPr>
          <p:cNvPr id="21" name="Text 19"/>
          <p:cNvSpPr/>
          <p:nvPr/>
        </p:nvSpPr>
        <p:spPr>
          <a:xfrm>
            <a:off x="5349240" y="3959352"/>
            <a:ext cx="6065215" cy="365760"/>
          </a:xfrm>
          <a:prstGeom prst="rect">
            <a:avLst/>
          </a:prstGeom>
          <a:noFill/>
          <a:ln/>
        </p:spPr>
        <p:txBody>
          <a:bodyPr wrap="square" lIns="0" tIns="0" rIns="0" bIns="0" rtlCol="0" anchor="ctr"/>
          <a:lstStyle/>
          <a:p>
            <a:pPr algn="l" indent="0" marL="0">
              <a:buNone/>
            </a:pPr>
            <a:r>
              <a:rPr lang="en-US" sz="1500" b="1" dirty="0">
                <a:solidFill>
                  <a:srgbClr val="F58220"/>
                </a:solidFill>
                <a:latin typeface="Arial" pitchFamily="34" charset="0"/>
                <a:ea typeface="Arial" pitchFamily="34" charset="-122"/>
                <a:cs typeface="Arial" pitchFamily="34" charset="-120"/>
              </a:rPr>
              <a:t>What the dashboard does</a:t>
            </a:r>
            <a:endParaRPr lang="en-US" sz="1500" dirty="0"/>
          </a:p>
        </p:txBody>
      </p:sp>
      <p:sp>
        <p:nvSpPr>
          <p:cNvPr id="22" name="Text 20"/>
          <p:cNvSpPr/>
          <p:nvPr/>
        </p:nvSpPr>
        <p:spPr>
          <a:xfrm>
            <a:off x="5349240" y="4416552"/>
            <a:ext cx="6065215" cy="1188720"/>
          </a:xfrm>
          <a:prstGeom prst="rect">
            <a:avLst/>
          </a:prstGeom>
          <a:noFill/>
          <a:ln/>
        </p:spPr>
        <p:txBody>
          <a:bodyPr wrap="square" lIns="0" tIns="0" rIns="0" bIns="0" rtlCol="0" anchor="t"/>
          <a:lstStyle/>
          <a:p>
            <a:pPr algn="l" indent="0" marL="0">
              <a:lnSpc>
                <a:spcPct val="118000"/>
              </a:lnSpc>
              <a:buNone/>
            </a:pPr>
            <a:r>
              <a:rPr lang="en-US" sz="1350" dirty="0">
                <a:solidFill>
                  <a:srgbClr val="5B677A"/>
                </a:solidFill>
                <a:latin typeface="Arial" pitchFamily="34" charset="0"/>
                <a:ea typeface="Arial" pitchFamily="34" charset="-122"/>
                <a:cs typeface="Arial" pitchFamily="34" charset="-120"/>
              </a:rPr>
              <a:t>For any complaint, the dashboard reads the claim from Quest, builds smart search queries, and pulls the 10 most relevant links from news portals and the web. It can also trace claim photos to their source via Google Lens, then presents everything ranked and source-tagged for the investigator.</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5223B"/>
          </a:solidFill>
          <a:ln/>
        </p:spPr>
      </p:sp>
      <p:sp>
        <p:nvSpPr>
          <p:cNvPr id="3" name="Shape 1"/>
          <p:cNvSpPr/>
          <p:nvPr/>
        </p:nvSpPr>
        <p:spPr>
          <a:xfrm>
            <a:off x="0" y="128016"/>
            <a:ext cx="12191695" cy="32004"/>
          </a:xfrm>
          <a:prstGeom prst="rect">
            <a:avLst/>
          </a:prstGeom>
          <a:solidFill>
            <a:srgbClr val="F58220"/>
          </a:solidFill>
          <a:ln/>
        </p:spPr>
      </p:sp>
      <p:sp>
        <p:nvSpPr>
          <p:cNvPr id="4" name="Text 2"/>
          <p:cNvSpPr/>
          <p:nvPr/>
        </p:nvSpPr>
        <p:spPr>
          <a:xfrm>
            <a:off x="457200" y="274320"/>
            <a:ext cx="3657600" cy="365760"/>
          </a:xfrm>
          <a:prstGeom prst="rect">
            <a:avLst/>
          </a:prstGeom>
          <a:noFill/>
          <a:ln/>
        </p:spPr>
        <p:txBody>
          <a:bodyPr wrap="square" lIns="0" tIns="0" rIns="0" bIns="0" rtlCol="0" anchor="ctr"/>
          <a:lstStyle/>
          <a:p>
            <a:pPr algn="l" indent="0" marL="0">
              <a:buNone/>
            </a:pPr>
            <a:r>
              <a:rPr lang="en-US" sz="1300" b="1" dirty="0">
                <a:solidFill>
                  <a:srgbClr val="004A98"/>
                </a:solidFill>
                <a:latin typeface="Arial" pitchFamily="34" charset="0"/>
                <a:ea typeface="Arial" pitchFamily="34" charset="-122"/>
                <a:cs typeface="Arial" pitchFamily="34" charset="-120"/>
              </a:rPr>
              <a:t>Universal Sompo</a:t>
            </a:r>
            <a:endParaRPr lang="en-US" sz="1300" dirty="0"/>
          </a:p>
        </p:txBody>
      </p:sp>
      <p:sp>
        <p:nvSpPr>
          <p:cNvPr id="5" name="Shape 3"/>
          <p:cNvSpPr/>
          <p:nvPr/>
        </p:nvSpPr>
        <p:spPr>
          <a:xfrm>
            <a:off x="2505456" y="310896"/>
            <a:ext cx="201168" cy="32004"/>
          </a:xfrm>
          <a:prstGeom prst="rect">
            <a:avLst/>
          </a:prstGeom>
          <a:solidFill>
            <a:srgbClr val="F58220"/>
          </a:solidFill>
          <a:ln/>
        </p:spPr>
      </p:sp>
      <p:sp>
        <p:nvSpPr>
          <p:cNvPr id="6" name="Shape 4"/>
          <p:cNvSpPr/>
          <p:nvPr/>
        </p:nvSpPr>
        <p:spPr>
          <a:xfrm>
            <a:off x="2674620" y="310896"/>
            <a:ext cx="32004" cy="201168"/>
          </a:xfrm>
          <a:prstGeom prst="rect">
            <a:avLst/>
          </a:prstGeom>
          <a:solidFill>
            <a:srgbClr val="F58220"/>
          </a:solidFill>
          <a:ln/>
        </p:spPr>
      </p:sp>
      <p:sp>
        <p:nvSpPr>
          <p:cNvPr id="7" name="Text 5"/>
          <p:cNvSpPr/>
          <p:nvPr/>
        </p:nvSpPr>
        <p:spPr>
          <a:xfrm>
            <a:off x="8076895" y="274320"/>
            <a:ext cx="3657600" cy="365760"/>
          </a:xfrm>
          <a:prstGeom prst="rect">
            <a:avLst/>
          </a:prstGeom>
          <a:noFill/>
          <a:ln/>
        </p:spPr>
        <p:txBody>
          <a:bodyPr wrap="square" lIns="0" tIns="0" rIns="0" bIns="0" rtlCol="0" anchor="ctr"/>
          <a:lstStyle/>
          <a:p>
            <a:pPr algn="r" indent="0" marL="0">
              <a:buNone/>
            </a:pPr>
            <a:r>
              <a:rPr lang="en-US" sz="1000" b="1" spc="100" kern="0" dirty="0">
                <a:solidFill>
                  <a:srgbClr val="004A98"/>
                </a:solidFill>
                <a:latin typeface="Arial" pitchFamily="34" charset="0"/>
                <a:ea typeface="Arial" pitchFamily="34" charset="-122"/>
                <a:cs typeface="Arial" pitchFamily="34" charset="-120"/>
              </a:rPr>
              <a:t>TECHNICAL BUILD PLAN</a:t>
            </a:r>
            <a:endParaRPr lang="en-US" sz="1000" dirty="0"/>
          </a:p>
        </p:txBody>
      </p:sp>
      <p:sp>
        <p:nvSpPr>
          <p:cNvPr id="8" name="Text 6"/>
          <p:cNvSpPr/>
          <p:nvPr/>
        </p:nvSpPr>
        <p:spPr>
          <a:xfrm>
            <a:off x="457200" y="658368"/>
            <a:ext cx="11277295" cy="868680"/>
          </a:xfrm>
          <a:prstGeom prst="rect">
            <a:avLst/>
          </a:prstGeom>
          <a:noFill/>
          <a:ln/>
        </p:spPr>
        <p:txBody>
          <a:bodyPr wrap="square" lIns="0" tIns="0" rIns="0" bIns="0" rtlCol="0" anchor="ctr"/>
          <a:lstStyle/>
          <a:p>
            <a:pPr algn="l" indent="0" marL="0">
              <a:buNone/>
            </a:pPr>
            <a:r>
              <a:rPr lang="en-US" sz="3100" b="1" dirty="0">
                <a:solidFill>
                  <a:srgbClr val="15223B"/>
                </a:solidFill>
                <a:latin typeface="Arial" pitchFamily="34" charset="0"/>
                <a:ea typeface="Arial" pitchFamily="34" charset="-122"/>
                <a:cs typeface="Arial" pitchFamily="34" charset="-120"/>
              </a:rPr>
              <a:t>How the dashboard works, end to end</a:t>
            </a:r>
            <a:endParaRPr lang="en-US" sz="3100" dirty="0"/>
          </a:p>
        </p:txBody>
      </p:sp>
      <p:sp>
        <p:nvSpPr>
          <p:cNvPr id="9" name="Shape 7"/>
          <p:cNvSpPr/>
          <p:nvPr/>
        </p:nvSpPr>
        <p:spPr>
          <a:xfrm>
            <a:off x="457200" y="1572768"/>
            <a:ext cx="11277295" cy="0"/>
          </a:xfrm>
          <a:prstGeom prst="line">
            <a:avLst/>
          </a:prstGeom>
          <a:noFill/>
          <a:ln w="12700">
            <a:solidFill>
              <a:srgbClr val="DCE6F2"/>
            </a:solidFill>
            <a:prstDash val="solid"/>
          </a:ln>
        </p:spPr>
      </p:sp>
      <p:sp>
        <p:nvSpPr>
          <p:cNvPr id="10" name="Shape 8"/>
          <p:cNvSpPr/>
          <p:nvPr/>
        </p:nvSpPr>
        <p:spPr>
          <a:xfrm>
            <a:off x="0" y="6711696"/>
            <a:ext cx="12191695" cy="146304"/>
          </a:xfrm>
          <a:prstGeom prst="rect">
            <a:avLst/>
          </a:prstGeom>
          <a:solidFill>
            <a:srgbClr val="F58220"/>
          </a:solidFill>
          <a:ln/>
        </p:spPr>
      </p:sp>
      <p:sp>
        <p:nvSpPr>
          <p:cNvPr id="11" name="Text 9"/>
          <p:cNvSpPr/>
          <p:nvPr/>
        </p:nvSpPr>
        <p:spPr>
          <a:xfrm>
            <a:off x="11368735" y="6291072"/>
            <a:ext cx="457200" cy="274320"/>
          </a:xfrm>
          <a:prstGeom prst="rect">
            <a:avLst/>
          </a:prstGeom>
          <a:noFill/>
          <a:ln/>
        </p:spPr>
        <p:txBody>
          <a:bodyPr wrap="square" lIns="0" tIns="0" rIns="0" bIns="0" rtlCol="0" anchor="ctr"/>
          <a:lstStyle/>
          <a:p>
            <a:pPr algn="r" indent="0" marL="0">
              <a:buNone/>
            </a:pPr>
            <a:r>
              <a:rPr lang="en-US" sz="1100" dirty="0">
                <a:solidFill>
                  <a:srgbClr val="7A879A"/>
                </a:solidFill>
                <a:latin typeface="Arial" pitchFamily="34" charset="0"/>
                <a:ea typeface="Arial" pitchFamily="34" charset="-122"/>
                <a:cs typeface="Arial" pitchFamily="34" charset="-120"/>
              </a:rPr>
              <a:t>2</a:t>
            </a:r>
            <a:endParaRPr lang="en-US" sz="1100" dirty="0"/>
          </a:p>
        </p:txBody>
      </p:sp>
      <p:sp>
        <p:nvSpPr>
          <p:cNvPr id="12" name="Shape 10"/>
          <p:cNvSpPr/>
          <p:nvPr/>
        </p:nvSpPr>
        <p:spPr>
          <a:xfrm>
            <a:off x="457200" y="1965960"/>
            <a:ext cx="1874520" cy="960120"/>
          </a:xfrm>
          <a:prstGeom prst="roundRect">
            <a:avLst>
              <a:gd name="adj" fmla="val 7619"/>
            </a:avLst>
          </a:prstGeom>
          <a:solidFill>
            <a:srgbClr val="FFFFFF"/>
          </a:solidFill>
          <a:ln w="15875">
            <a:solidFill>
              <a:srgbClr val="B8D3EF"/>
            </a:solidFill>
            <a:prstDash val="solid"/>
          </a:ln>
          <a:effectLst>
            <a:outerShdw sx="100000" sy="100000" kx="0" ky="0" algn="bl" rotWithShape="0" blurRad="88900" dist="38100" dir="5400000">
              <a:srgbClr val="9FB3CC">
                <a:alpha val="28000"/>
              </a:srgbClr>
            </a:outerShdw>
          </a:effectLst>
        </p:spPr>
      </p:sp>
      <p:sp>
        <p:nvSpPr>
          <p:cNvPr id="13" name="Text 11"/>
          <p:cNvSpPr/>
          <p:nvPr/>
        </p:nvSpPr>
        <p:spPr>
          <a:xfrm>
            <a:off x="502920" y="1965960"/>
            <a:ext cx="1783080" cy="960120"/>
          </a:xfrm>
          <a:prstGeom prst="rect">
            <a:avLst/>
          </a:prstGeom>
          <a:noFill/>
          <a:ln/>
        </p:spPr>
        <p:txBody>
          <a:bodyPr wrap="square" lIns="0" tIns="0" rIns="0" bIns="0" rtlCol="0" anchor="ctr"/>
          <a:lstStyle/>
          <a:p>
            <a:pPr algn="ctr" indent="0" marL="0">
              <a:buNone/>
            </a:pPr>
            <a:r>
              <a:rPr lang="en-US" sz="1250" b="1" dirty="0">
                <a:solidFill>
                  <a:srgbClr val="15223B"/>
                </a:solidFill>
                <a:latin typeface="Arial" pitchFamily="34" charset="0"/>
                <a:ea typeface="Arial" pitchFamily="34" charset="-122"/>
                <a:cs typeface="Arial" pitchFamily="34" charset="-120"/>
              </a:rPr>
              <a:t>Complaint</a:t>
            </a:r>
            <a:endParaRPr lang="en-US" sz="1250" dirty="0"/>
          </a:p>
          <a:p>
            <a:pPr algn="ctr" indent="0" marL="0">
              <a:buNone/>
            </a:pPr>
            <a:r>
              <a:rPr lang="en-US" sz="1250" b="1" dirty="0">
                <a:solidFill>
                  <a:srgbClr val="15223B"/>
                </a:solidFill>
                <a:latin typeface="Arial" pitchFamily="34" charset="0"/>
                <a:ea typeface="Arial" pitchFamily="34" charset="-122"/>
                <a:cs typeface="Arial" pitchFamily="34" charset="-120"/>
              </a:rPr>
              <a:t>/ Claim</a:t>
            </a:r>
            <a:endParaRPr lang="en-US" sz="1250" dirty="0"/>
          </a:p>
        </p:txBody>
      </p:sp>
      <p:sp>
        <p:nvSpPr>
          <p:cNvPr id="14" name="Shape 12"/>
          <p:cNvSpPr/>
          <p:nvPr/>
        </p:nvSpPr>
        <p:spPr>
          <a:xfrm>
            <a:off x="2377440" y="2446020"/>
            <a:ext cx="384734" cy="0"/>
          </a:xfrm>
          <a:prstGeom prst="line">
            <a:avLst/>
          </a:prstGeom>
          <a:noFill/>
          <a:ln w="31750">
            <a:solidFill>
              <a:srgbClr val="F58220"/>
            </a:solidFill>
            <a:prstDash val="solid"/>
            <a:tailEnd type="triangle"/>
          </a:ln>
        </p:spPr>
      </p:sp>
      <p:sp>
        <p:nvSpPr>
          <p:cNvPr id="15" name="Shape 13"/>
          <p:cNvSpPr/>
          <p:nvPr/>
        </p:nvSpPr>
        <p:spPr>
          <a:xfrm>
            <a:off x="2807894" y="1965960"/>
            <a:ext cx="1874520" cy="960120"/>
          </a:xfrm>
          <a:prstGeom prst="roundRect">
            <a:avLst>
              <a:gd name="adj" fmla="val 7619"/>
            </a:avLst>
          </a:prstGeom>
          <a:solidFill>
            <a:srgbClr val="DCE8F6"/>
          </a:solidFill>
          <a:ln w="15875">
            <a:solidFill>
              <a:srgbClr val="B8D3EF"/>
            </a:solidFill>
            <a:prstDash val="solid"/>
          </a:ln>
          <a:effectLst>
            <a:outerShdw sx="100000" sy="100000" kx="0" ky="0" algn="bl" rotWithShape="0" blurRad="88900" dist="38100" dir="5400000">
              <a:srgbClr val="9FB3CC">
                <a:alpha val="28000"/>
              </a:srgbClr>
            </a:outerShdw>
          </a:effectLst>
        </p:spPr>
      </p:sp>
      <p:sp>
        <p:nvSpPr>
          <p:cNvPr id="16" name="Text 14"/>
          <p:cNvSpPr/>
          <p:nvPr/>
        </p:nvSpPr>
        <p:spPr>
          <a:xfrm>
            <a:off x="2853614" y="1965960"/>
            <a:ext cx="1783080" cy="960120"/>
          </a:xfrm>
          <a:prstGeom prst="rect">
            <a:avLst/>
          </a:prstGeom>
          <a:noFill/>
          <a:ln/>
        </p:spPr>
        <p:txBody>
          <a:bodyPr wrap="square" lIns="0" tIns="0" rIns="0" bIns="0" rtlCol="0" anchor="ctr"/>
          <a:lstStyle/>
          <a:p>
            <a:pPr algn="ctr" indent="0" marL="0">
              <a:buNone/>
            </a:pPr>
            <a:r>
              <a:rPr lang="en-US" sz="1250" b="1" dirty="0">
                <a:solidFill>
                  <a:srgbClr val="15223B"/>
                </a:solidFill>
                <a:latin typeface="Arial" pitchFamily="34" charset="0"/>
                <a:ea typeface="Arial" pitchFamily="34" charset="-122"/>
                <a:cs typeface="Arial" pitchFamily="34" charset="-120"/>
              </a:rPr>
              <a:t>Query</a:t>
            </a:r>
            <a:endParaRPr lang="en-US" sz="1250" dirty="0"/>
          </a:p>
          <a:p>
            <a:pPr algn="ctr" indent="0" marL="0">
              <a:buNone/>
            </a:pPr>
            <a:r>
              <a:rPr lang="en-US" sz="1250" b="1" dirty="0">
                <a:solidFill>
                  <a:srgbClr val="15223B"/>
                </a:solidFill>
                <a:latin typeface="Arial" pitchFamily="34" charset="0"/>
                <a:ea typeface="Arial" pitchFamily="34" charset="-122"/>
                <a:cs typeface="Arial" pitchFamily="34" charset="-120"/>
              </a:rPr>
              <a:t>Builder</a:t>
            </a:r>
            <a:endParaRPr lang="en-US" sz="1250" dirty="0"/>
          </a:p>
        </p:txBody>
      </p:sp>
      <p:sp>
        <p:nvSpPr>
          <p:cNvPr id="17" name="Shape 15"/>
          <p:cNvSpPr/>
          <p:nvPr/>
        </p:nvSpPr>
        <p:spPr>
          <a:xfrm>
            <a:off x="4728134" y="2446020"/>
            <a:ext cx="384734" cy="0"/>
          </a:xfrm>
          <a:prstGeom prst="line">
            <a:avLst/>
          </a:prstGeom>
          <a:noFill/>
          <a:ln w="31750">
            <a:solidFill>
              <a:srgbClr val="F58220"/>
            </a:solidFill>
            <a:prstDash val="solid"/>
            <a:tailEnd type="triangle"/>
          </a:ln>
        </p:spPr>
      </p:sp>
      <p:sp>
        <p:nvSpPr>
          <p:cNvPr id="18" name="Shape 16"/>
          <p:cNvSpPr/>
          <p:nvPr/>
        </p:nvSpPr>
        <p:spPr>
          <a:xfrm>
            <a:off x="5158588" y="1965960"/>
            <a:ext cx="1874520" cy="960120"/>
          </a:xfrm>
          <a:prstGeom prst="roundRect">
            <a:avLst>
              <a:gd name="adj" fmla="val 7619"/>
            </a:avLst>
          </a:prstGeom>
          <a:solidFill>
            <a:srgbClr val="D7E4F2"/>
          </a:solidFill>
          <a:ln w="15875">
            <a:solidFill>
              <a:srgbClr val="B8D3EF"/>
            </a:solidFill>
            <a:prstDash val="solid"/>
          </a:ln>
          <a:effectLst>
            <a:outerShdw sx="100000" sy="100000" kx="0" ky="0" algn="bl" rotWithShape="0" blurRad="88900" dist="38100" dir="5400000">
              <a:srgbClr val="9FB3CC">
                <a:alpha val="28000"/>
              </a:srgbClr>
            </a:outerShdw>
          </a:effectLst>
        </p:spPr>
      </p:sp>
      <p:sp>
        <p:nvSpPr>
          <p:cNvPr id="19" name="Text 17"/>
          <p:cNvSpPr/>
          <p:nvPr/>
        </p:nvSpPr>
        <p:spPr>
          <a:xfrm>
            <a:off x="5204308" y="1965960"/>
            <a:ext cx="1783080" cy="960120"/>
          </a:xfrm>
          <a:prstGeom prst="rect">
            <a:avLst/>
          </a:prstGeom>
          <a:noFill/>
          <a:ln/>
        </p:spPr>
        <p:txBody>
          <a:bodyPr wrap="square" lIns="0" tIns="0" rIns="0" bIns="0" rtlCol="0" anchor="ctr"/>
          <a:lstStyle/>
          <a:p>
            <a:pPr algn="ctr" indent="0" marL="0">
              <a:buNone/>
            </a:pPr>
            <a:r>
              <a:rPr lang="en-US" sz="1250" b="1" dirty="0">
                <a:solidFill>
                  <a:srgbClr val="15223B"/>
                </a:solidFill>
                <a:latin typeface="Arial" pitchFamily="34" charset="0"/>
                <a:ea typeface="Arial" pitchFamily="34" charset="-122"/>
                <a:cs typeface="Arial" pitchFamily="34" charset="-120"/>
              </a:rPr>
              <a:t>4 Source</a:t>
            </a:r>
            <a:endParaRPr lang="en-US" sz="1250" dirty="0"/>
          </a:p>
          <a:p>
            <a:pPr algn="ctr" indent="0" marL="0">
              <a:buNone/>
            </a:pPr>
            <a:r>
              <a:rPr lang="en-US" sz="1250" b="1" dirty="0">
                <a:solidFill>
                  <a:srgbClr val="15223B"/>
                </a:solidFill>
                <a:latin typeface="Arial" pitchFamily="34" charset="0"/>
                <a:ea typeface="Arial" pitchFamily="34" charset="-122"/>
                <a:cs typeface="Arial" pitchFamily="34" charset="-120"/>
              </a:rPr>
              <a:t>Engines</a:t>
            </a:r>
            <a:endParaRPr lang="en-US" sz="1250" dirty="0"/>
          </a:p>
        </p:txBody>
      </p:sp>
      <p:sp>
        <p:nvSpPr>
          <p:cNvPr id="20" name="Shape 18"/>
          <p:cNvSpPr/>
          <p:nvPr/>
        </p:nvSpPr>
        <p:spPr>
          <a:xfrm>
            <a:off x="7078828" y="2446020"/>
            <a:ext cx="384734" cy="0"/>
          </a:xfrm>
          <a:prstGeom prst="line">
            <a:avLst/>
          </a:prstGeom>
          <a:noFill/>
          <a:ln w="31750">
            <a:solidFill>
              <a:srgbClr val="F58220"/>
            </a:solidFill>
            <a:prstDash val="solid"/>
            <a:tailEnd type="triangle"/>
          </a:ln>
        </p:spPr>
      </p:sp>
      <p:sp>
        <p:nvSpPr>
          <p:cNvPr id="21" name="Shape 19"/>
          <p:cNvSpPr/>
          <p:nvPr/>
        </p:nvSpPr>
        <p:spPr>
          <a:xfrm>
            <a:off x="7509281" y="1965960"/>
            <a:ext cx="1874520" cy="960120"/>
          </a:xfrm>
          <a:prstGeom prst="roundRect">
            <a:avLst>
              <a:gd name="adj" fmla="val 7619"/>
            </a:avLst>
          </a:prstGeom>
          <a:solidFill>
            <a:srgbClr val="DCE8F6"/>
          </a:solidFill>
          <a:ln w="15875">
            <a:solidFill>
              <a:srgbClr val="B8D3EF"/>
            </a:solidFill>
            <a:prstDash val="solid"/>
          </a:ln>
          <a:effectLst>
            <a:outerShdw sx="100000" sy="100000" kx="0" ky="0" algn="bl" rotWithShape="0" blurRad="88900" dist="38100" dir="5400000">
              <a:srgbClr val="9FB3CC">
                <a:alpha val="28000"/>
              </a:srgbClr>
            </a:outerShdw>
          </a:effectLst>
        </p:spPr>
      </p:sp>
      <p:sp>
        <p:nvSpPr>
          <p:cNvPr id="22" name="Text 20"/>
          <p:cNvSpPr/>
          <p:nvPr/>
        </p:nvSpPr>
        <p:spPr>
          <a:xfrm>
            <a:off x="7555001" y="1965960"/>
            <a:ext cx="1783080" cy="960120"/>
          </a:xfrm>
          <a:prstGeom prst="rect">
            <a:avLst/>
          </a:prstGeom>
          <a:noFill/>
          <a:ln/>
        </p:spPr>
        <p:txBody>
          <a:bodyPr wrap="square" lIns="0" tIns="0" rIns="0" bIns="0" rtlCol="0" anchor="ctr"/>
          <a:lstStyle/>
          <a:p>
            <a:pPr algn="ctr" indent="0" marL="0">
              <a:buNone/>
            </a:pPr>
            <a:r>
              <a:rPr lang="en-US" sz="1250" b="1" dirty="0">
                <a:solidFill>
                  <a:srgbClr val="15223B"/>
                </a:solidFill>
                <a:latin typeface="Arial" pitchFamily="34" charset="0"/>
                <a:ea typeface="Arial" pitchFamily="34" charset="-122"/>
                <a:cs typeface="Arial" pitchFamily="34" charset="-120"/>
              </a:rPr>
              <a:t>Dedupe</a:t>
            </a:r>
            <a:endParaRPr lang="en-US" sz="1250" dirty="0"/>
          </a:p>
          <a:p>
            <a:pPr algn="ctr" indent="0" marL="0">
              <a:buNone/>
            </a:pPr>
            <a:r>
              <a:rPr lang="en-US" sz="1250" b="1" dirty="0">
                <a:solidFill>
                  <a:srgbClr val="15223B"/>
                </a:solidFill>
                <a:latin typeface="Arial" pitchFamily="34" charset="0"/>
                <a:ea typeface="Arial" pitchFamily="34" charset="-122"/>
                <a:cs typeface="Arial" pitchFamily="34" charset="-120"/>
              </a:rPr>
              <a:t>&amp; Rank</a:t>
            </a:r>
            <a:endParaRPr lang="en-US" sz="1250" dirty="0"/>
          </a:p>
        </p:txBody>
      </p:sp>
      <p:sp>
        <p:nvSpPr>
          <p:cNvPr id="23" name="Shape 21"/>
          <p:cNvSpPr/>
          <p:nvPr/>
        </p:nvSpPr>
        <p:spPr>
          <a:xfrm>
            <a:off x="9429521" y="2446020"/>
            <a:ext cx="384734" cy="0"/>
          </a:xfrm>
          <a:prstGeom prst="line">
            <a:avLst/>
          </a:prstGeom>
          <a:noFill/>
          <a:ln w="31750">
            <a:solidFill>
              <a:srgbClr val="F58220"/>
            </a:solidFill>
            <a:prstDash val="solid"/>
            <a:tailEnd type="triangle"/>
          </a:ln>
        </p:spPr>
      </p:sp>
      <p:sp>
        <p:nvSpPr>
          <p:cNvPr id="24" name="Shape 22"/>
          <p:cNvSpPr/>
          <p:nvPr/>
        </p:nvSpPr>
        <p:spPr>
          <a:xfrm>
            <a:off x="9859975" y="1965960"/>
            <a:ext cx="1874520" cy="960120"/>
          </a:xfrm>
          <a:prstGeom prst="roundRect">
            <a:avLst>
              <a:gd name="adj" fmla="val 7619"/>
            </a:avLst>
          </a:prstGeom>
          <a:solidFill>
            <a:srgbClr val="FFFFFF"/>
          </a:solidFill>
          <a:ln w="15875">
            <a:solidFill>
              <a:srgbClr val="B8D3EF"/>
            </a:solidFill>
            <a:prstDash val="solid"/>
          </a:ln>
          <a:effectLst>
            <a:outerShdw sx="100000" sy="100000" kx="0" ky="0" algn="bl" rotWithShape="0" blurRad="88900" dist="38100" dir="5400000">
              <a:srgbClr val="9FB3CC">
                <a:alpha val="28000"/>
              </a:srgbClr>
            </a:outerShdw>
          </a:effectLst>
        </p:spPr>
      </p:sp>
      <p:sp>
        <p:nvSpPr>
          <p:cNvPr id="25" name="Text 23"/>
          <p:cNvSpPr/>
          <p:nvPr/>
        </p:nvSpPr>
        <p:spPr>
          <a:xfrm>
            <a:off x="9905695" y="1965960"/>
            <a:ext cx="1783080" cy="960120"/>
          </a:xfrm>
          <a:prstGeom prst="rect">
            <a:avLst/>
          </a:prstGeom>
          <a:noFill/>
          <a:ln/>
        </p:spPr>
        <p:txBody>
          <a:bodyPr wrap="square" lIns="0" tIns="0" rIns="0" bIns="0" rtlCol="0" anchor="ctr"/>
          <a:lstStyle/>
          <a:p>
            <a:pPr algn="ctr" indent="0" marL="0">
              <a:buNone/>
            </a:pPr>
            <a:r>
              <a:rPr lang="en-US" sz="1250" b="1" dirty="0">
                <a:solidFill>
                  <a:srgbClr val="15223B"/>
                </a:solidFill>
                <a:latin typeface="Arial" pitchFamily="34" charset="0"/>
                <a:ea typeface="Arial" pitchFamily="34" charset="-122"/>
                <a:cs typeface="Arial" pitchFamily="34" charset="-120"/>
              </a:rPr>
              <a:t>Dashboard</a:t>
            </a:r>
            <a:endParaRPr lang="en-US" sz="1250" dirty="0"/>
          </a:p>
          <a:p>
            <a:pPr algn="ctr" indent="0" marL="0">
              <a:buNone/>
            </a:pPr>
            <a:r>
              <a:rPr lang="en-US" sz="1250" b="1" dirty="0">
                <a:solidFill>
                  <a:srgbClr val="15223B"/>
                </a:solidFill>
                <a:latin typeface="Arial" pitchFamily="34" charset="0"/>
                <a:ea typeface="Arial" pitchFamily="34" charset="-122"/>
                <a:cs typeface="Arial" pitchFamily="34" charset="-120"/>
              </a:rPr>
              <a:t>View</a:t>
            </a:r>
            <a:endParaRPr lang="en-US" sz="1250" dirty="0"/>
          </a:p>
        </p:txBody>
      </p:sp>
      <p:sp>
        <p:nvSpPr>
          <p:cNvPr id="26" name="Shape 24"/>
          <p:cNvSpPr/>
          <p:nvPr/>
        </p:nvSpPr>
        <p:spPr>
          <a:xfrm>
            <a:off x="457200" y="3429000"/>
            <a:ext cx="11277295" cy="1554480"/>
          </a:xfrm>
          <a:prstGeom prst="roundRect">
            <a:avLst>
              <a:gd name="adj" fmla="val 5882"/>
            </a:avLst>
          </a:prstGeom>
          <a:solidFill>
            <a:srgbClr val="F7FBFF"/>
          </a:solidFill>
          <a:ln w="12700">
            <a:solidFill>
              <a:srgbClr val="B8D3EF"/>
            </a:solidFill>
            <a:prstDash val="solid"/>
          </a:ln>
          <a:effectLst>
            <a:outerShdw sx="100000" sy="100000" kx="0" ky="0" algn="bl" rotWithShape="0" blurRad="88900" dist="38100" dir="5400000">
              <a:srgbClr val="9FB3CC">
                <a:alpha val="28000"/>
              </a:srgbClr>
            </a:outerShdw>
          </a:effectLst>
        </p:spPr>
      </p:sp>
      <p:sp>
        <p:nvSpPr>
          <p:cNvPr id="27" name="Text 25"/>
          <p:cNvSpPr/>
          <p:nvPr/>
        </p:nvSpPr>
        <p:spPr>
          <a:xfrm>
            <a:off x="822960" y="3648456"/>
            <a:ext cx="10545775" cy="365760"/>
          </a:xfrm>
          <a:prstGeom prst="rect">
            <a:avLst/>
          </a:prstGeom>
          <a:noFill/>
          <a:ln/>
        </p:spPr>
        <p:txBody>
          <a:bodyPr wrap="square" lIns="0" tIns="0" rIns="0" bIns="0" rtlCol="0" anchor="ctr"/>
          <a:lstStyle/>
          <a:p>
            <a:pPr algn="l" indent="0" marL="0">
              <a:buNone/>
            </a:pPr>
            <a:r>
              <a:rPr lang="en-US" sz="1500" b="1" dirty="0">
                <a:solidFill>
                  <a:srgbClr val="F58220"/>
                </a:solidFill>
                <a:latin typeface="Arial" pitchFamily="34" charset="0"/>
                <a:ea typeface="Arial" pitchFamily="34" charset="-122"/>
                <a:cs typeface="Arial" pitchFamily="34" charset="-120"/>
              </a:rPr>
              <a:t>Processing pattern</a:t>
            </a:r>
            <a:endParaRPr lang="en-US" sz="1500" dirty="0"/>
          </a:p>
        </p:txBody>
      </p:sp>
      <p:sp>
        <p:nvSpPr>
          <p:cNvPr id="28" name="Text 26"/>
          <p:cNvSpPr/>
          <p:nvPr/>
        </p:nvSpPr>
        <p:spPr>
          <a:xfrm>
            <a:off x="822960" y="4087368"/>
            <a:ext cx="10545775" cy="685800"/>
          </a:xfrm>
          <a:prstGeom prst="rect">
            <a:avLst/>
          </a:prstGeom>
          <a:noFill/>
          <a:ln/>
        </p:spPr>
        <p:txBody>
          <a:bodyPr wrap="square" lIns="0" tIns="0" rIns="0" bIns="0" rtlCol="0" anchor="t"/>
          <a:lstStyle/>
          <a:p>
            <a:pPr algn="l" indent="0" marL="0">
              <a:lnSpc>
                <a:spcPct val="116000"/>
              </a:lnSpc>
              <a:buNone/>
            </a:pPr>
            <a:r>
              <a:rPr lang="en-US" sz="1350" dirty="0">
                <a:solidFill>
                  <a:srgbClr val="5B677A"/>
                </a:solidFill>
                <a:latin typeface="Arial" pitchFamily="34" charset="0"/>
                <a:ea typeface="Arial" pitchFamily="34" charset="-122"/>
                <a:cs typeface="Arial" pitchFamily="34" charset="-120"/>
              </a:rPr>
              <a:t>The dashboard takes one complaint, reads its facts from Quest, and fans out the same case into four search engines in parallel — relevant-link search, news portals, the open web, and Google Lens for photos. Duplicate URLs are removed, results are ranked by how well they match the claim, and the top 10 links plus any image matches are rendered on a single complaint screen.</a:t>
            </a:r>
            <a:endParaRPr lang="en-US" sz="1350" dirty="0"/>
          </a:p>
        </p:txBody>
      </p:sp>
      <p:sp>
        <p:nvSpPr>
          <p:cNvPr id="29" name="Shape 27"/>
          <p:cNvSpPr/>
          <p:nvPr/>
        </p:nvSpPr>
        <p:spPr>
          <a:xfrm>
            <a:off x="457200" y="5440680"/>
            <a:ext cx="1417320" cy="457200"/>
          </a:xfrm>
          <a:prstGeom prst="roundRect">
            <a:avLst>
              <a:gd name="adj" fmla="val 50000"/>
            </a:avLst>
          </a:prstGeom>
          <a:solidFill>
            <a:srgbClr val="15223B"/>
          </a:solidFill>
          <a:ln/>
        </p:spPr>
      </p:sp>
      <p:sp>
        <p:nvSpPr>
          <p:cNvPr id="30" name="Text 28"/>
          <p:cNvSpPr/>
          <p:nvPr/>
        </p:nvSpPr>
        <p:spPr>
          <a:xfrm>
            <a:off x="457200" y="5440680"/>
            <a:ext cx="14173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Quest API</a:t>
            </a:r>
            <a:endParaRPr lang="en-US" sz="1100" dirty="0"/>
          </a:p>
        </p:txBody>
      </p:sp>
      <p:sp>
        <p:nvSpPr>
          <p:cNvPr id="31" name="Text 29"/>
          <p:cNvSpPr/>
          <p:nvPr/>
        </p:nvSpPr>
        <p:spPr>
          <a:xfrm>
            <a:off x="1984248" y="5440680"/>
            <a:ext cx="1219124" cy="457200"/>
          </a:xfrm>
          <a:prstGeom prst="rect">
            <a:avLst/>
          </a:prstGeom>
          <a:noFill/>
          <a:ln/>
        </p:spPr>
        <p:txBody>
          <a:bodyPr wrap="square" lIns="0" tIns="0" rIns="0" bIns="0" rtlCol="0" anchor="ctr"/>
          <a:lstStyle/>
          <a:p>
            <a:pPr algn="l" indent="0" marL="0">
              <a:buNone/>
            </a:pPr>
            <a:r>
              <a:rPr lang="en-US" sz="1200" dirty="0">
                <a:solidFill>
                  <a:srgbClr val="5B677A"/>
                </a:solidFill>
                <a:latin typeface="Arial" pitchFamily="34" charset="0"/>
                <a:ea typeface="Arial" pitchFamily="34" charset="-122"/>
                <a:cs typeface="Arial" pitchFamily="34" charset="-120"/>
              </a:rPr>
              <a:t>claim facts</a:t>
            </a:r>
            <a:endParaRPr lang="en-US" sz="1200" dirty="0"/>
          </a:p>
        </p:txBody>
      </p:sp>
      <p:sp>
        <p:nvSpPr>
          <p:cNvPr id="32" name="Shape 30"/>
          <p:cNvSpPr/>
          <p:nvPr/>
        </p:nvSpPr>
        <p:spPr>
          <a:xfrm>
            <a:off x="3276524" y="5440680"/>
            <a:ext cx="1417320" cy="457200"/>
          </a:xfrm>
          <a:prstGeom prst="roundRect">
            <a:avLst>
              <a:gd name="adj" fmla="val 50000"/>
            </a:avLst>
          </a:prstGeom>
          <a:solidFill>
            <a:srgbClr val="F58220"/>
          </a:solidFill>
          <a:ln/>
        </p:spPr>
      </p:sp>
      <p:sp>
        <p:nvSpPr>
          <p:cNvPr id="33" name="Text 31"/>
          <p:cNvSpPr/>
          <p:nvPr/>
        </p:nvSpPr>
        <p:spPr>
          <a:xfrm>
            <a:off x="3276524" y="5440680"/>
            <a:ext cx="14173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News APIs</a:t>
            </a:r>
            <a:endParaRPr lang="en-US" sz="1100" dirty="0"/>
          </a:p>
        </p:txBody>
      </p:sp>
      <p:sp>
        <p:nvSpPr>
          <p:cNvPr id="34" name="Text 32"/>
          <p:cNvSpPr/>
          <p:nvPr/>
        </p:nvSpPr>
        <p:spPr>
          <a:xfrm>
            <a:off x="4803572" y="5440680"/>
            <a:ext cx="1219124" cy="457200"/>
          </a:xfrm>
          <a:prstGeom prst="rect">
            <a:avLst/>
          </a:prstGeom>
          <a:noFill/>
          <a:ln/>
        </p:spPr>
        <p:txBody>
          <a:bodyPr wrap="square" lIns="0" tIns="0" rIns="0" bIns="0" rtlCol="0" anchor="ctr"/>
          <a:lstStyle/>
          <a:p>
            <a:pPr algn="l" indent="0" marL="0">
              <a:buNone/>
            </a:pPr>
            <a:r>
              <a:rPr lang="en-US" sz="1200" dirty="0">
                <a:solidFill>
                  <a:srgbClr val="5B677A"/>
                </a:solidFill>
                <a:latin typeface="Arial" pitchFamily="34" charset="0"/>
                <a:ea typeface="Arial" pitchFamily="34" charset="-122"/>
                <a:cs typeface="Arial" pitchFamily="34" charset="-120"/>
              </a:rPr>
              <a:t>articles</a:t>
            </a:r>
            <a:endParaRPr lang="en-US" sz="1200" dirty="0"/>
          </a:p>
        </p:txBody>
      </p:sp>
      <p:sp>
        <p:nvSpPr>
          <p:cNvPr id="35" name="Shape 33"/>
          <p:cNvSpPr/>
          <p:nvPr/>
        </p:nvSpPr>
        <p:spPr>
          <a:xfrm>
            <a:off x="6095848" y="5440680"/>
            <a:ext cx="1417320" cy="457200"/>
          </a:xfrm>
          <a:prstGeom prst="roundRect">
            <a:avLst>
              <a:gd name="adj" fmla="val 50000"/>
            </a:avLst>
          </a:prstGeom>
          <a:solidFill>
            <a:srgbClr val="15223B"/>
          </a:solidFill>
          <a:ln/>
        </p:spPr>
      </p:sp>
      <p:sp>
        <p:nvSpPr>
          <p:cNvPr id="36" name="Text 34"/>
          <p:cNvSpPr/>
          <p:nvPr/>
        </p:nvSpPr>
        <p:spPr>
          <a:xfrm>
            <a:off x="6095848" y="5440680"/>
            <a:ext cx="14173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Web Search</a:t>
            </a:r>
            <a:endParaRPr lang="en-US" sz="1100" dirty="0"/>
          </a:p>
        </p:txBody>
      </p:sp>
      <p:sp>
        <p:nvSpPr>
          <p:cNvPr id="37" name="Text 35"/>
          <p:cNvSpPr/>
          <p:nvPr/>
        </p:nvSpPr>
        <p:spPr>
          <a:xfrm>
            <a:off x="7622896" y="5440680"/>
            <a:ext cx="1219124" cy="457200"/>
          </a:xfrm>
          <a:prstGeom prst="rect">
            <a:avLst/>
          </a:prstGeom>
          <a:noFill/>
          <a:ln/>
        </p:spPr>
        <p:txBody>
          <a:bodyPr wrap="square" lIns="0" tIns="0" rIns="0" bIns="0" rtlCol="0" anchor="ctr"/>
          <a:lstStyle/>
          <a:p>
            <a:pPr algn="l" indent="0" marL="0">
              <a:buNone/>
            </a:pPr>
            <a:r>
              <a:rPr lang="en-US" sz="1200" dirty="0">
                <a:solidFill>
                  <a:srgbClr val="5B677A"/>
                </a:solidFill>
                <a:latin typeface="Arial" pitchFamily="34" charset="0"/>
                <a:ea typeface="Arial" pitchFamily="34" charset="-122"/>
                <a:cs typeface="Arial" pitchFamily="34" charset="-120"/>
              </a:rPr>
              <a:t>10 links</a:t>
            </a:r>
            <a:endParaRPr lang="en-US" sz="1200" dirty="0"/>
          </a:p>
        </p:txBody>
      </p:sp>
      <p:sp>
        <p:nvSpPr>
          <p:cNvPr id="38" name="Shape 36"/>
          <p:cNvSpPr/>
          <p:nvPr/>
        </p:nvSpPr>
        <p:spPr>
          <a:xfrm>
            <a:off x="8915171" y="5440680"/>
            <a:ext cx="1417320" cy="457200"/>
          </a:xfrm>
          <a:prstGeom prst="roundRect">
            <a:avLst>
              <a:gd name="adj" fmla="val 50000"/>
            </a:avLst>
          </a:prstGeom>
          <a:solidFill>
            <a:srgbClr val="F58220"/>
          </a:solidFill>
          <a:ln/>
        </p:spPr>
      </p:sp>
      <p:sp>
        <p:nvSpPr>
          <p:cNvPr id="39" name="Text 37"/>
          <p:cNvSpPr/>
          <p:nvPr/>
        </p:nvSpPr>
        <p:spPr>
          <a:xfrm>
            <a:off x="8915171" y="5440680"/>
            <a:ext cx="14173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Google Lens</a:t>
            </a:r>
            <a:endParaRPr lang="en-US" sz="1100" dirty="0"/>
          </a:p>
        </p:txBody>
      </p:sp>
      <p:sp>
        <p:nvSpPr>
          <p:cNvPr id="40" name="Text 38"/>
          <p:cNvSpPr/>
          <p:nvPr/>
        </p:nvSpPr>
        <p:spPr>
          <a:xfrm>
            <a:off x="10442219" y="5440680"/>
            <a:ext cx="1219124" cy="457200"/>
          </a:xfrm>
          <a:prstGeom prst="rect">
            <a:avLst/>
          </a:prstGeom>
          <a:noFill/>
          <a:ln/>
        </p:spPr>
        <p:txBody>
          <a:bodyPr wrap="square" lIns="0" tIns="0" rIns="0" bIns="0" rtlCol="0" anchor="ctr"/>
          <a:lstStyle/>
          <a:p>
            <a:pPr algn="l" indent="0" marL="0">
              <a:buNone/>
            </a:pPr>
            <a:r>
              <a:rPr lang="en-US" sz="1200" dirty="0">
                <a:solidFill>
                  <a:srgbClr val="5B677A"/>
                </a:solidFill>
                <a:latin typeface="Arial" pitchFamily="34" charset="0"/>
                <a:ea typeface="Arial" pitchFamily="34" charset="-122"/>
                <a:cs typeface="Arial" pitchFamily="34" charset="-120"/>
              </a:rPr>
              <a:t>photo match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5223B"/>
          </a:solidFill>
          <a:ln/>
        </p:spPr>
      </p:sp>
      <p:sp>
        <p:nvSpPr>
          <p:cNvPr id="3" name="Shape 1"/>
          <p:cNvSpPr/>
          <p:nvPr/>
        </p:nvSpPr>
        <p:spPr>
          <a:xfrm>
            <a:off x="0" y="128016"/>
            <a:ext cx="12191695" cy="32004"/>
          </a:xfrm>
          <a:prstGeom prst="rect">
            <a:avLst/>
          </a:prstGeom>
          <a:solidFill>
            <a:srgbClr val="F58220"/>
          </a:solidFill>
          <a:ln/>
        </p:spPr>
      </p:sp>
      <p:sp>
        <p:nvSpPr>
          <p:cNvPr id="4" name="Text 2"/>
          <p:cNvSpPr/>
          <p:nvPr/>
        </p:nvSpPr>
        <p:spPr>
          <a:xfrm>
            <a:off x="457200" y="274320"/>
            <a:ext cx="3657600" cy="365760"/>
          </a:xfrm>
          <a:prstGeom prst="rect">
            <a:avLst/>
          </a:prstGeom>
          <a:noFill/>
          <a:ln/>
        </p:spPr>
        <p:txBody>
          <a:bodyPr wrap="square" lIns="0" tIns="0" rIns="0" bIns="0" rtlCol="0" anchor="ctr"/>
          <a:lstStyle/>
          <a:p>
            <a:pPr algn="l" indent="0" marL="0">
              <a:buNone/>
            </a:pPr>
            <a:r>
              <a:rPr lang="en-US" sz="1300" b="1" dirty="0">
                <a:solidFill>
                  <a:srgbClr val="004A98"/>
                </a:solidFill>
                <a:latin typeface="Arial" pitchFamily="34" charset="0"/>
                <a:ea typeface="Arial" pitchFamily="34" charset="-122"/>
                <a:cs typeface="Arial" pitchFamily="34" charset="-120"/>
              </a:rPr>
              <a:t>Universal Sompo</a:t>
            </a:r>
            <a:endParaRPr lang="en-US" sz="1300" dirty="0"/>
          </a:p>
        </p:txBody>
      </p:sp>
      <p:sp>
        <p:nvSpPr>
          <p:cNvPr id="5" name="Shape 3"/>
          <p:cNvSpPr/>
          <p:nvPr/>
        </p:nvSpPr>
        <p:spPr>
          <a:xfrm>
            <a:off x="2505456" y="310896"/>
            <a:ext cx="201168" cy="32004"/>
          </a:xfrm>
          <a:prstGeom prst="rect">
            <a:avLst/>
          </a:prstGeom>
          <a:solidFill>
            <a:srgbClr val="F58220"/>
          </a:solidFill>
          <a:ln/>
        </p:spPr>
      </p:sp>
      <p:sp>
        <p:nvSpPr>
          <p:cNvPr id="6" name="Shape 4"/>
          <p:cNvSpPr/>
          <p:nvPr/>
        </p:nvSpPr>
        <p:spPr>
          <a:xfrm>
            <a:off x="2674620" y="310896"/>
            <a:ext cx="32004" cy="201168"/>
          </a:xfrm>
          <a:prstGeom prst="rect">
            <a:avLst/>
          </a:prstGeom>
          <a:solidFill>
            <a:srgbClr val="F58220"/>
          </a:solidFill>
          <a:ln/>
        </p:spPr>
      </p:sp>
      <p:sp>
        <p:nvSpPr>
          <p:cNvPr id="7" name="Text 5"/>
          <p:cNvSpPr/>
          <p:nvPr/>
        </p:nvSpPr>
        <p:spPr>
          <a:xfrm>
            <a:off x="8076895" y="274320"/>
            <a:ext cx="3657600" cy="365760"/>
          </a:xfrm>
          <a:prstGeom prst="rect">
            <a:avLst/>
          </a:prstGeom>
          <a:noFill/>
          <a:ln/>
        </p:spPr>
        <p:txBody>
          <a:bodyPr wrap="square" lIns="0" tIns="0" rIns="0" bIns="0" rtlCol="0" anchor="ctr"/>
          <a:lstStyle/>
          <a:p>
            <a:pPr algn="r" indent="0" marL="0">
              <a:buNone/>
            </a:pPr>
            <a:r>
              <a:rPr lang="en-US" sz="1000" b="1" spc="100" kern="0" dirty="0">
                <a:solidFill>
                  <a:srgbClr val="004A98"/>
                </a:solidFill>
                <a:latin typeface="Arial" pitchFamily="34" charset="0"/>
                <a:ea typeface="Arial" pitchFamily="34" charset="-122"/>
                <a:cs typeface="Arial" pitchFamily="34" charset="-120"/>
              </a:rPr>
              <a:t>TECHNICAL BUILD PLAN</a:t>
            </a:r>
            <a:endParaRPr lang="en-US" sz="1000" dirty="0"/>
          </a:p>
        </p:txBody>
      </p:sp>
      <p:sp>
        <p:nvSpPr>
          <p:cNvPr id="8" name="Text 6"/>
          <p:cNvSpPr/>
          <p:nvPr/>
        </p:nvSpPr>
        <p:spPr>
          <a:xfrm>
            <a:off x="457200" y="658368"/>
            <a:ext cx="11277295" cy="868680"/>
          </a:xfrm>
          <a:prstGeom prst="rect">
            <a:avLst/>
          </a:prstGeom>
          <a:noFill/>
          <a:ln/>
        </p:spPr>
        <p:txBody>
          <a:bodyPr wrap="square" lIns="0" tIns="0" rIns="0" bIns="0" rtlCol="0" anchor="ctr"/>
          <a:lstStyle/>
          <a:p>
            <a:pPr algn="l" indent="0" marL="0">
              <a:buNone/>
            </a:pPr>
            <a:r>
              <a:rPr lang="en-US" sz="3100" b="1" dirty="0">
                <a:solidFill>
                  <a:srgbClr val="15223B"/>
                </a:solidFill>
                <a:latin typeface="Arial" pitchFamily="34" charset="0"/>
                <a:ea typeface="Arial" pitchFamily="34" charset="-122"/>
                <a:cs typeface="Arial" pitchFamily="34" charset="-120"/>
              </a:rPr>
              <a:t>Four evidence sources, one dashboard</a:t>
            </a:r>
            <a:endParaRPr lang="en-US" sz="3100" dirty="0"/>
          </a:p>
        </p:txBody>
      </p:sp>
      <p:sp>
        <p:nvSpPr>
          <p:cNvPr id="9" name="Shape 7"/>
          <p:cNvSpPr/>
          <p:nvPr/>
        </p:nvSpPr>
        <p:spPr>
          <a:xfrm>
            <a:off x="457200" y="1572768"/>
            <a:ext cx="11277295" cy="0"/>
          </a:xfrm>
          <a:prstGeom prst="line">
            <a:avLst/>
          </a:prstGeom>
          <a:noFill/>
          <a:ln w="12700">
            <a:solidFill>
              <a:srgbClr val="DCE6F2"/>
            </a:solidFill>
            <a:prstDash val="solid"/>
          </a:ln>
        </p:spPr>
      </p:sp>
      <p:sp>
        <p:nvSpPr>
          <p:cNvPr id="10" name="Shape 8"/>
          <p:cNvSpPr/>
          <p:nvPr/>
        </p:nvSpPr>
        <p:spPr>
          <a:xfrm>
            <a:off x="0" y="6711696"/>
            <a:ext cx="12191695" cy="146304"/>
          </a:xfrm>
          <a:prstGeom prst="rect">
            <a:avLst/>
          </a:prstGeom>
          <a:solidFill>
            <a:srgbClr val="F58220"/>
          </a:solidFill>
          <a:ln/>
        </p:spPr>
      </p:sp>
      <p:sp>
        <p:nvSpPr>
          <p:cNvPr id="11" name="Text 9"/>
          <p:cNvSpPr/>
          <p:nvPr/>
        </p:nvSpPr>
        <p:spPr>
          <a:xfrm>
            <a:off x="11368735" y="6291072"/>
            <a:ext cx="457200" cy="274320"/>
          </a:xfrm>
          <a:prstGeom prst="rect">
            <a:avLst/>
          </a:prstGeom>
          <a:noFill/>
          <a:ln/>
        </p:spPr>
        <p:txBody>
          <a:bodyPr wrap="square" lIns="0" tIns="0" rIns="0" bIns="0" rtlCol="0" anchor="ctr"/>
          <a:lstStyle/>
          <a:p>
            <a:pPr algn="r" indent="0" marL="0">
              <a:buNone/>
            </a:pPr>
            <a:r>
              <a:rPr lang="en-US" sz="1100" dirty="0">
                <a:solidFill>
                  <a:srgbClr val="7A879A"/>
                </a:solidFill>
                <a:latin typeface="Arial" pitchFamily="34" charset="0"/>
                <a:ea typeface="Arial" pitchFamily="34" charset="-122"/>
                <a:cs typeface="Arial" pitchFamily="34" charset="-120"/>
              </a:rPr>
              <a:t>3</a:t>
            </a:r>
            <a:endParaRPr lang="en-US" sz="1100" dirty="0"/>
          </a:p>
        </p:txBody>
      </p:sp>
      <p:sp>
        <p:nvSpPr>
          <p:cNvPr id="12" name="Shape 10"/>
          <p:cNvSpPr/>
          <p:nvPr/>
        </p:nvSpPr>
        <p:spPr>
          <a:xfrm>
            <a:off x="457200" y="1920240"/>
            <a:ext cx="2613584" cy="3154680"/>
          </a:xfrm>
          <a:prstGeom prst="roundRect">
            <a:avLst>
              <a:gd name="adj" fmla="val 3149"/>
            </a:avLst>
          </a:prstGeom>
          <a:solidFill>
            <a:srgbClr val="FFFFFF"/>
          </a:solidFill>
          <a:ln w="12700">
            <a:solidFill>
              <a:srgbClr val="B8D3EF"/>
            </a:solidFill>
            <a:prstDash val="solid"/>
          </a:ln>
          <a:effectLst>
            <a:outerShdw sx="100000" sy="100000" kx="0" ky="0" algn="bl" rotWithShape="0" blurRad="88900" dist="38100" dir="5400000">
              <a:srgbClr val="9FB3CC">
                <a:alpha val="28000"/>
              </a:srgbClr>
            </a:outerShdw>
          </a:effectLst>
        </p:spPr>
      </p:sp>
      <p:sp>
        <p:nvSpPr>
          <p:cNvPr id="13" name="Shape 11"/>
          <p:cNvSpPr/>
          <p:nvPr/>
        </p:nvSpPr>
        <p:spPr>
          <a:xfrm>
            <a:off x="749808" y="2231136"/>
            <a:ext cx="603504" cy="384048"/>
          </a:xfrm>
          <a:prstGeom prst="roundRect">
            <a:avLst>
              <a:gd name="adj" fmla="val 50000"/>
            </a:avLst>
          </a:prstGeom>
          <a:solidFill>
            <a:srgbClr val="15223B"/>
          </a:solidFill>
          <a:ln/>
        </p:spPr>
      </p:sp>
      <p:sp>
        <p:nvSpPr>
          <p:cNvPr id="14" name="Text 12"/>
          <p:cNvSpPr/>
          <p:nvPr/>
        </p:nvSpPr>
        <p:spPr>
          <a:xfrm>
            <a:off x="749808" y="2231136"/>
            <a:ext cx="603504"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01</a:t>
            </a:r>
            <a:endParaRPr lang="en-US" sz="1200" dirty="0"/>
          </a:p>
        </p:txBody>
      </p:sp>
      <p:sp>
        <p:nvSpPr>
          <p:cNvPr id="15" name="Text 13"/>
          <p:cNvSpPr/>
          <p:nvPr/>
        </p:nvSpPr>
        <p:spPr>
          <a:xfrm>
            <a:off x="749808" y="2788920"/>
            <a:ext cx="2028368" cy="777240"/>
          </a:xfrm>
          <a:prstGeom prst="rect">
            <a:avLst/>
          </a:prstGeom>
          <a:noFill/>
          <a:ln/>
        </p:spPr>
        <p:txBody>
          <a:bodyPr wrap="square" lIns="0" tIns="0" rIns="0" bIns="0" rtlCol="0" anchor="t"/>
          <a:lstStyle/>
          <a:p>
            <a:pPr algn="l" indent="0" marL="0">
              <a:lnSpc>
                <a:spcPct val="100000"/>
              </a:lnSpc>
              <a:buNone/>
            </a:pPr>
            <a:r>
              <a:rPr lang="en-US" sz="1700" b="1" dirty="0">
                <a:solidFill>
                  <a:srgbClr val="15223B"/>
                </a:solidFill>
                <a:latin typeface="Arial" pitchFamily="34" charset="0"/>
                <a:ea typeface="Arial" pitchFamily="34" charset="-122"/>
                <a:cs typeface="Arial" pitchFamily="34" charset="-120"/>
              </a:rPr>
              <a:t>Relevant Links</a:t>
            </a:r>
            <a:endParaRPr lang="en-US" sz="1700" dirty="0"/>
          </a:p>
        </p:txBody>
      </p:sp>
      <p:sp>
        <p:nvSpPr>
          <p:cNvPr id="16" name="Text 14"/>
          <p:cNvSpPr/>
          <p:nvPr/>
        </p:nvSpPr>
        <p:spPr>
          <a:xfrm>
            <a:off x="749808" y="3547872"/>
            <a:ext cx="2046656" cy="1371600"/>
          </a:xfrm>
          <a:prstGeom prst="rect">
            <a:avLst/>
          </a:prstGeom>
          <a:noFill/>
          <a:ln/>
        </p:spPr>
        <p:txBody>
          <a:bodyPr wrap="square" lIns="0" tIns="0" rIns="0" bIns="0" rtlCol="0" anchor="t"/>
          <a:lstStyle/>
          <a:p>
            <a:pPr algn="l" indent="0" marL="0">
              <a:lnSpc>
                <a:spcPct val="116000"/>
              </a:lnSpc>
              <a:buNone/>
            </a:pPr>
            <a:r>
              <a:rPr lang="en-US" sz="1250" dirty="0">
                <a:solidFill>
                  <a:srgbClr val="5B677A"/>
                </a:solidFill>
                <a:latin typeface="Arial" pitchFamily="34" charset="0"/>
                <a:ea typeface="Arial" pitchFamily="34" charset="-122"/>
                <a:cs typeface="Arial" pitchFamily="34" charset="-120"/>
              </a:rPr>
              <a:t>The dashboard fetches the top 10 most relevant links for each complaint, ranked by how closely they match the claim facts.</a:t>
            </a:r>
            <a:endParaRPr lang="en-US" sz="1250" dirty="0"/>
          </a:p>
        </p:txBody>
      </p:sp>
      <p:sp>
        <p:nvSpPr>
          <p:cNvPr id="17" name="Shape 15"/>
          <p:cNvSpPr/>
          <p:nvPr/>
        </p:nvSpPr>
        <p:spPr>
          <a:xfrm>
            <a:off x="3345104" y="1920240"/>
            <a:ext cx="2613584" cy="3154680"/>
          </a:xfrm>
          <a:prstGeom prst="roundRect">
            <a:avLst>
              <a:gd name="adj" fmla="val 3149"/>
            </a:avLst>
          </a:prstGeom>
          <a:solidFill>
            <a:srgbClr val="FFF1E5"/>
          </a:solidFill>
          <a:ln w="12700">
            <a:solidFill>
              <a:srgbClr val="FFD5B5"/>
            </a:solidFill>
            <a:prstDash val="solid"/>
          </a:ln>
          <a:effectLst>
            <a:outerShdw sx="100000" sy="100000" kx="0" ky="0" algn="bl" rotWithShape="0" blurRad="88900" dist="38100" dir="5400000">
              <a:srgbClr val="9FB3CC">
                <a:alpha val="28000"/>
              </a:srgbClr>
            </a:outerShdw>
          </a:effectLst>
        </p:spPr>
      </p:sp>
      <p:sp>
        <p:nvSpPr>
          <p:cNvPr id="18" name="Shape 16"/>
          <p:cNvSpPr/>
          <p:nvPr/>
        </p:nvSpPr>
        <p:spPr>
          <a:xfrm>
            <a:off x="3637712" y="2231136"/>
            <a:ext cx="603504" cy="384048"/>
          </a:xfrm>
          <a:prstGeom prst="roundRect">
            <a:avLst>
              <a:gd name="adj" fmla="val 50000"/>
            </a:avLst>
          </a:prstGeom>
          <a:solidFill>
            <a:srgbClr val="F58220"/>
          </a:solidFill>
          <a:ln/>
        </p:spPr>
      </p:sp>
      <p:sp>
        <p:nvSpPr>
          <p:cNvPr id="19" name="Text 17"/>
          <p:cNvSpPr/>
          <p:nvPr/>
        </p:nvSpPr>
        <p:spPr>
          <a:xfrm>
            <a:off x="3637712" y="2231136"/>
            <a:ext cx="603504"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02</a:t>
            </a:r>
            <a:endParaRPr lang="en-US" sz="1200" dirty="0"/>
          </a:p>
        </p:txBody>
      </p:sp>
      <p:sp>
        <p:nvSpPr>
          <p:cNvPr id="20" name="Text 18"/>
          <p:cNvSpPr/>
          <p:nvPr/>
        </p:nvSpPr>
        <p:spPr>
          <a:xfrm>
            <a:off x="3637712" y="2788920"/>
            <a:ext cx="2028368" cy="777240"/>
          </a:xfrm>
          <a:prstGeom prst="rect">
            <a:avLst/>
          </a:prstGeom>
          <a:noFill/>
          <a:ln/>
        </p:spPr>
        <p:txBody>
          <a:bodyPr wrap="square" lIns="0" tIns="0" rIns="0" bIns="0" rtlCol="0" anchor="t"/>
          <a:lstStyle/>
          <a:p>
            <a:pPr algn="l" indent="0" marL="0">
              <a:lnSpc>
                <a:spcPct val="100000"/>
              </a:lnSpc>
              <a:buNone/>
            </a:pPr>
            <a:r>
              <a:rPr lang="en-US" sz="1700" b="1" dirty="0">
                <a:solidFill>
                  <a:srgbClr val="15223B"/>
                </a:solidFill>
                <a:latin typeface="Arial" pitchFamily="34" charset="0"/>
                <a:ea typeface="Arial" pitchFamily="34" charset="-122"/>
                <a:cs typeface="Arial" pitchFamily="34" charset="-120"/>
              </a:rPr>
              <a:t>News Portals</a:t>
            </a:r>
            <a:endParaRPr lang="en-US" sz="1700" dirty="0"/>
          </a:p>
        </p:txBody>
      </p:sp>
      <p:sp>
        <p:nvSpPr>
          <p:cNvPr id="21" name="Text 19"/>
          <p:cNvSpPr/>
          <p:nvPr/>
        </p:nvSpPr>
        <p:spPr>
          <a:xfrm>
            <a:off x="3637712" y="3547872"/>
            <a:ext cx="2046656" cy="1371600"/>
          </a:xfrm>
          <a:prstGeom prst="rect">
            <a:avLst/>
          </a:prstGeom>
          <a:noFill/>
          <a:ln/>
        </p:spPr>
        <p:txBody>
          <a:bodyPr wrap="square" lIns="0" tIns="0" rIns="0" bIns="0" rtlCol="0" anchor="t"/>
          <a:lstStyle/>
          <a:p>
            <a:pPr algn="l" indent="0" marL="0">
              <a:lnSpc>
                <a:spcPct val="116000"/>
              </a:lnSpc>
              <a:buNone/>
            </a:pPr>
            <a:r>
              <a:rPr lang="en-US" sz="1250" dirty="0">
                <a:solidFill>
                  <a:srgbClr val="5B677A"/>
                </a:solidFill>
                <a:latin typeface="Arial" pitchFamily="34" charset="0"/>
                <a:ea typeface="Arial" pitchFamily="34" charset="-122"/>
                <a:cs typeface="Arial" pitchFamily="34" charset="-120"/>
              </a:rPr>
              <a:t>It pulls matching articles, headlines, dates and sources straight from news portals to corroborate or contradict the complaint.</a:t>
            </a:r>
            <a:endParaRPr lang="en-US" sz="1250" dirty="0"/>
          </a:p>
        </p:txBody>
      </p:sp>
      <p:sp>
        <p:nvSpPr>
          <p:cNvPr id="22" name="Shape 20"/>
          <p:cNvSpPr/>
          <p:nvPr/>
        </p:nvSpPr>
        <p:spPr>
          <a:xfrm>
            <a:off x="6233008" y="1920240"/>
            <a:ext cx="2613584" cy="3154680"/>
          </a:xfrm>
          <a:prstGeom prst="roundRect">
            <a:avLst>
              <a:gd name="adj" fmla="val 3149"/>
            </a:avLst>
          </a:prstGeom>
          <a:solidFill>
            <a:srgbClr val="FFFFFF"/>
          </a:solidFill>
          <a:ln w="12700">
            <a:solidFill>
              <a:srgbClr val="B8D3EF"/>
            </a:solidFill>
            <a:prstDash val="solid"/>
          </a:ln>
          <a:effectLst>
            <a:outerShdw sx="100000" sy="100000" kx="0" ky="0" algn="bl" rotWithShape="0" blurRad="88900" dist="38100" dir="5400000">
              <a:srgbClr val="9FB3CC">
                <a:alpha val="28000"/>
              </a:srgbClr>
            </a:outerShdw>
          </a:effectLst>
        </p:spPr>
      </p:sp>
      <p:sp>
        <p:nvSpPr>
          <p:cNvPr id="23" name="Shape 21"/>
          <p:cNvSpPr/>
          <p:nvPr/>
        </p:nvSpPr>
        <p:spPr>
          <a:xfrm>
            <a:off x="6525616" y="2231136"/>
            <a:ext cx="603504" cy="384048"/>
          </a:xfrm>
          <a:prstGeom prst="roundRect">
            <a:avLst>
              <a:gd name="adj" fmla="val 50000"/>
            </a:avLst>
          </a:prstGeom>
          <a:solidFill>
            <a:srgbClr val="15223B"/>
          </a:solidFill>
          <a:ln/>
        </p:spPr>
      </p:sp>
      <p:sp>
        <p:nvSpPr>
          <p:cNvPr id="24" name="Text 22"/>
          <p:cNvSpPr/>
          <p:nvPr/>
        </p:nvSpPr>
        <p:spPr>
          <a:xfrm>
            <a:off x="6525616" y="2231136"/>
            <a:ext cx="603504"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03</a:t>
            </a:r>
            <a:endParaRPr lang="en-US" sz="1200" dirty="0"/>
          </a:p>
        </p:txBody>
      </p:sp>
      <p:sp>
        <p:nvSpPr>
          <p:cNvPr id="25" name="Text 23"/>
          <p:cNvSpPr/>
          <p:nvPr/>
        </p:nvSpPr>
        <p:spPr>
          <a:xfrm>
            <a:off x="6525616" y="2788920"/>
            <a:ext cx="2028368" cy="777240"/>
          </a:xfrm>
          <a:prstGeom prst="rect">
            <a:avLst/>
          </a:prstGeom>
          <a:noFill/>
          <a:ln/>
        </p:spPr>
        <p:txBody>
          <a:bodyPr wrap="square" lIns="0" tIns="0" rIns="0" bIns="0" rtlCol="0" anchor="t"/>
          <a:lstStyle/>
          <a:p>
            <a:pPr algn="l" indent="0" marL="0">
              <a:lnSpc>
                <a:spcPct val="100000"/>
              </a:lnSpc>
              <a:buNone/>
            </a:pPr>
            <a:r>
              <a:rPr lang="en-US" sz="1700" b="1" dirty="0">
                <a:solidFill>
                  <a:srgbClr val="15223B"/>
                </a:solidFill>
                <a:latin typeface="Arial" pitchFamily="34" charset="0"/>
                <a:ea typeface="Arial" pitchFamily="34" charset="-122"/>
                <a:cs typeface="Arial" pitchFamily="34" charset="-120"/>
              </a:rPr>
              <a:t>Quest App</a:t>
            </a:r>
            <a:endParaRPr lang="en-US" sz="1700" dirty="0"/>
          </a:p>
        </p:txBody>
      </p:sp>
      <p:sp>
        <p:nvSpPr>
          <p:cNvPr id="26" name="Text 24"/>
          <p:cNvSpPr/>
          <p:nvPr/>
        </p:nvSpPr>
        <p:spPr>
          <a:xfrm>
            <a:off x="6525616" y="3547872"/>
            <a:ext cx="2046656" cy="1371600"/>
          </a:xfrm>
          <a:prstGeom prst="rect">
            <a:avLst/>
          </a:prstGeom>
          <a:noFill/>
          <a:ln/>
        </p:spPr>
        <p:txBody>
          <a:bodyPr wrap="square" lIns="0" tIns="0" rIns="0" bIns="0" rtlCol="0" anchor="t"/>
          <a:lstStyle/>
          <a:p>
            <a:pPr algn="l" indent="0" marL="0">
              <a:lnSpc>
                <a:spcPct val="116000"/>
              </a:lnSpc>
              <a:buNone/>
            </a:pPr>
            <a:r>
              <a:rPr lang="en-US" sz="1250" dirty="0">
                <a:solidFill>
                  <a:srgbClr val="5B677A"/>
                </a:solidFill>
                <a:latin typeface="Arial" pitchFamily="34" charset="0"/>
                <a:ea typeface="Arial" pitchFamily="34" charset="-122"/>
                <a:cs typeface="Arial" pitchFamily="34" charset="-120"/>
              </a:rPr>
              <a:t>It reads claim data from Quest, Universal Sompo's internal investigation tool, so every search is anchored in the real case.</a:t>
            </a:r>
            <a:endParaRPr lang="en-US" sz="1250" dirty="0"/>
          </a:p>
        </p:txBody>
      </p:sp>
      <p:sp>
        <p:nvSpPr>
          <p:cNvPr id="27" name="Shape 25"/>
          <p:cNvSpPr/>
          <p:nvPr/>
        </p:nvSpPr>
        <p:spPr>
          <a:xfrm>
            <a:off x="9120911" y="1920240"/>
            <a:ext cx="2613584" cy="3154680"/>
          </a:xfrm>
          <a:prstGeom prst="roundRect">
            <a:avLst>
              <a:gd name="adj" fmla="val 3149"/>
            </a:avLst>
          </a:prstGeom>
          <a:solidFill>
            <a:srgbClr val="FFF1E5"/>
          </a:solidFill>
          <a:ln w="12700">
            <a:solidFill>
              <a:srgbClr val="FFD5B5"/>
            </a:solidFill>
            <a:prstDash val="solid"/>
          </a:ln>
          <a:effectLst>
            <a:outerShdw sx="100000" sy="100000" kx="0" ky="0" algn="bl" rotWithShape="0" blurRad="88900" dist="38100" dir="5400000">
              <a:srgbClr val="9FB3CC">
                <a:alpha val="28000"/>
              </a:srgbClr>
            </a:outerShdw>
          </a:effectLst>
        </p:spPr>
      </p:sp>
      <p:sp>
        <p:nvSpPr>
          <p:cNvPr id="28" name="Shape 26"/>
          <p:cNvSpPr/>
          <p:nvPr/>
        </p:nvSpPr>
        <p:spPr>
          <a:xfrm>
            <a:off x="9413519" y="2231136"/>
            <a:ext cx="603504" cy="384048"/>
          </a:xfrm>
          <a:prstGeom prst="roundRect">
            <a:avLst>
              <a:gd name="adj" fmla="val 50000"/>
            </a:avLst>
          </a:prstGeom>
          <a:solidFill>
            <a:srgbClr val="F58220"/>
          </a:solidFill>
          <a:ln/>
        </p:spPr>
      </p:sp>
      <p:sp>
        <p:nvSpPr>
          <p:cNvPr id="29" name="Text 27"/>
          <p:cNvSpPr/>
          <p:nvPr/>
        </p:nvSpPr>
        <p:spPr>
          <a:xfrm>
            <a:off x="9413519" y="2231136"/>
            <a:ext cx="603504"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04</a:t>
            </a:r>
            <a:endParaRPr lang="en-US" sz="1200" dirty="0"/>
          </a:p>
        </p:txBody>
      </p:sp>
      <p:sp>
        <p:nvSpPr>
          <p:cNvPr id="30" name="Text 28"/>
          <p:cNvSpPr/>
          <p:nvPr/>
        </p:nvSpPr>
        <p:spPr>
          <a:xfrm>
            <a:off x="9413519" y="2788920"/>
            <a:ext cx="2028368" cy="777240"/>
          </a:xfrm>
          <a:prstGeom prst="rect">
            <a:avLst/>
          </a:prstGeom>
          <a:noFill/>
          <a:ln/>
        </p:spPr>
        <p:txBody>
          <a:bodyPr wrap="square" lIns="0" tIns="0" rIns="0" bIns="0" rtlCol="0" anchor="t"/>
          <a:lstStyle/>
          <a:p>
            <a:pPr algn="l" indent="0" marL="0">
              <a:lnSpc>
                <a:spcPct val="100000"/>
              </a:lnSpc>
              <a:buNone/>
            </a:pPr>
            <a:r>
              <a:rPr lang="en-US" sz="1700" b="1" dirty="0">
                <a:solidFill>
                  <a:srgbClr val="15223B"/>
                </a:solidFill>
                <a:latin typeface="Arial" pitchFamily="34" charset="0"/>
                <a:ea typeface="Arial" pitchFamily="34" charset="-122"/>
                <a:cs typeface="Arial" pitchFamily="34" charset="-120"/>
              </a:rPr>
              <a:t>Google Lens</a:t>
            </a:r>
            <a:endParaRPr lang="en-US" sz="1700" dirty="0"/>
          </a:p>
        </p:txBody>
      </p:sp>
      <p:sp>
        <p:nvSpPr>
          <p:cNvPr id="31" name="Text 29"/>
          <p:cNvSpPr/>
          <p:nvPr/>
        </p:nvSpPr>
        <p:spPr>
          <a:xfrm>
            <a:off x="9413519" y="3547872"/>
            <a:ext cx="2046656" cy="1371600"/>
          </a:xfrm>
          <a:prstGeom prst="rect">
            <a:avLst/>
          </a:prstGeom>
          <a:noFill/>
          <a:ln/>
        </p:spPr>
        <p:txBody>
          <a:bodyPr wrap="square" lIns="0" tIns="0" rIns="0" bIns="0" rtlCol="0" anchor="t"/>
          <a:lstStyle/>
          <a:p>
            <a:pPr algn="l" indent="0" marL="0">
              <a:lnSpc>
                <a:spcPct val="116000"/>
              </a:lnSpc>
              <a:buNone/>
            </a:pPr>
            <a:r>
              <a:rPr lang="en-US" sz="1250" dirty="0">
                <a:solidFill>
                  <a:srgbClr val="5B677A"/>
                </a:solidFill>
                <a:latin typeface="Arial" pitchFamily="34" charset="0"/>
                <a:ea typeface="Arial" pitchFamily="34" charset="-122"/>
                <a:cs typeface="Arial" pitchFamily="34" charset="-120"/>
              </a:rPr>
              <a:t>It runs claim photos through Google Lens to trace images to their original source and spot reused, stock or mismatched pictures.</a:t>
            </a:r>
            <a:endParaRPr lang="en-US" sz="1250" dirty="0"/>
          </a:p>
        </p:txBody>
      </p:sp>
      <p:sp>
        <p:nvSpPr>
          <p:cNvPr id="32" name="Text 30"/>
          <p:cNvSpPr/>
          <p:nvPr/>
        </p:nvSpPr>
        <p:spPr>
          <a:xfrm>
            <a:off x="914400" y="5440680"/>
            <a:ext cx="10362895" cy="640080"/>
          </a:xfrm>
          <a:prstGeom prst="rect">
            <a:avLst/>
          </a:prstGeom>
          <a:noFill/>
          <a:ln/>
        </p:spPr>
        <p:txBody>
          <a:bodyPr wrap="square" lIns="0" tIns="0" rIns="0" bIns="0" rtlCol="0" anchor="ctr"/>
          <a:lstStyle/>
          <a:p>
            <a:pPr algn="ctr" indent="0" marL="0">
              <a:lnSpc>
                <a:spcPct val="110000"/>
              </a:lnSpc>
              <a:buNone/>
            </a:pPr>
            <a:r>
              <a:rPr lang="en-US" sz="1500" b="1" dirty="0">
                <a:solidFill>
                  <a:srgbClr val="15223B"/>
                </a:solidFill>
                <a:latin typeface="Arial" pitchFamily="34" charset="0"/>
                <a:ea typeface="Arial" pitchFamily="34" charset="-122"/>
                <a:cs typeface="Arial" pitchFamily="34" charset="-120"/>
              </a:rPr>
              <a:t>Every result is a link or image the investigator can open and verify — the dashboard assists, the investigator decides.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5223B"/>
          </a:solidFill>
          <a:ln/>
        </p:spPr>
      </p:sp>
      <p:sp>
        <p:nvSpPr>
          <p:cNvPr id="3" name="Shape 1"/>
          <p:cNvSpPr/>
          <p:nvPr/>
        </p:nvSpPr>
        <p:spPr>
          <a:xfrm>
            <a:off x="0" y="128016"/>
            <a:ext cx="12191695" cy="32004"/>
          </a:xfrm>
          <a:prstGeom prst="rect">
            <a:avLst/>
          </a:prstGeom>
          <a:solidFill>
            <a:srgbClr val="F58220"/>
          </a:solidFill>
          <a:ln/>
        </p:spPr>
      </p:sp>
      <p:sp>
        <p:nvSpPr>
          <p:cNvPr id="4" name="Text 2"/>
          <p:cNvSpPr/>
          <p:nvPr/>
        </p:nvSpPr>
        <p:spPr>
          <a:xfrm>
            <a:off x="457200" y="274320"/>
            <a:ext cx="3657600" cy="365760"/>
          </a:xfrm>
          <a:prstGeom prst="rect">
            <a:avLst/>
          </a:prstGeom>
          <a:noFill/>
          <a:ln/>
        </p:spPr>
        <p:txBody>
          <a:bodyPr wrap="square" lIns="0" tIns="0" rIns="0" bIns="0" rtlCol="0" anchor="ctr"/>
          <a:lstStyle/>
          <a:p>
            <a:pPr algn="l" indent="0" marL="0">
              <a:buNone/>
            </a:pPr>
            <a:r>
              <a:rPr lang="en-US" sz="1300" b="1" dirty="0">
                <a:solidFill>
                  <a:srgbClr val="004A98"/>
                </a:solidFill>
                <a:latin typeface="Arial" pitchFamily="34" charset="0"/>
                <a:ea typeface="Arial" pitchFamily="34" charset="-122"/>
                <a:cs typeface="Arial" pitchFamily="34" charset="-120"/>
              </a:rPr>
              <a:t>Universal Sompo</a:t>
            </a:r>
            <a:endParaRPr lang="en-US" sz="1300" dirty="0"/>
          </a:p>
        </p:txBody>
      </p:sp>
      <p:sp>
        <p:nvSpPr>
          <p:cNvPr id="5" name="Shape 3"/>
          <p:cNvSpPr/>
          <p:nvPr/>
        </p:nvSpPr>
        <p:spPr>
          <a:xfrm>
            <a:off x="2505456" y="310896"/>
            <a:ext cx="201168" cy="32004"/>
          </a:xfrm>
          <a:prstGeom prst="rect">
            <a:avLst/>
          </a:prstGeom>
          <a:solidFill>
            <a:srgbClr val="F58220"/>
          </a:solidFill>
          <a:ln/>
        </p:spPr>
      </p:sp>
      <p:sp>
        <p:nvSpPr>
          <p:cNvPr id="6" name="Shape 4"/>
          <p:cNvSpPr/>
          <p:nvPr/>
        </p:nvSpPr>
        <p:spPr>
          <a:xfrm>
            <a:off x="2674620" y="310896"/>
            <a:ext cx="32004" cy="201168"/>
          </a:xfrm>
          <a:prstGeom prst="rect">
            <a:avLst/>
          </a:prstGeom>
          <a:solidFill>
            <a:srgbClr val="F58220"/>
          </a:solidFill>
          <a:ln/>
        </p:spPr>
      </p:sp>
      <p:sp>
        <p:nvSpPr>
          <p:cNvPr id="7" name="Text 5"/>
          <p:cNvSpPr/>
          <p:nvPr/>
        </p:nvSpPr>
        <p:spPr>
          <a:xfrm>
            <a:off x="8076895" y="274320"/>
            <a:ext cx="3657600" cy="365760"/>
          </a:xfrm>
          <a:prstGeom prst="rect">
            <a:avLst/>
          </a:prstGeom>
          <a:noFill/>
          <a:ln/>
        </p:spPr>
        <p:txBody>
          <a:bodyPr wrap="square" lIns="0" tIns="0" rIns="0" bIns="0" rtlCol="0" anchor="ctr"/>
          <a:lstStyle/>
          <a:p>
            <a:pPr algn="r" indent="0" marL="0">
              <a:buNone/>
            </a:pPr>
            <a:r>
              <a:rPr lang="en-US" sz="1000" b="1" spc="100" kern="0" dirty="0">
                <a:solidFill>
                  <a:srgbClr val="004A98"/>
                </a:solidFill>
                <a:latin typeface="Arial" pitchFamily="34" charset="0"/>
                <a:ea typeface="Arial" pitchFamily="34" charset="-122"/>
                <a:cs typeface="Arial" pitchFamily="34" charset="-120"/>
              </a:rPr>
              <a:t>TECHNICAL BUILD PLAN</a:t>
            </a:r>
            <a:endParaRPr lang="en-US" sz="1000" dirty="0"/>
          </a:p>
        </p:txBody>
      </p:sp>
      <p:sp>
        <p:nvSpPr>
          <p:cNvPr id="8" name="Text 6"/>
          <p:cNvSpPr/>
          <p:nvPr/>
        </p:nvSpPr>
        <p:spPr>
          <a:xfrm>
            <a:off x="457200" y="658368"/>
            <a:ext cx="11277295" cy="868680"/>
          </a:xfrm>
          <a:prstGeom prst="rect">
            <a:avLst/>
          </a:prstGeom>
          <a:noFill/>
          <a:ln/>
        </p:spPr>
        <p:txBody>
          <a:bodyPr wrap="square" lIns="0" tIns="0" rIns="0" bIns="0" rtlCol="0" anchor="ctr"/>
          <a:lstStyle/>
          <a:p>
            <a:pPr algn="l" indent="0" marL="0">
              <a:buNone/>
            </a:pPr>
            <a:r>
              <a:rPr lang="en-US" sz="3100" b="1" dirty="0">
                <a:solidFill>
                  <a:srgbClr val="15223B"/>
                </a:solidFill>
                <a:latin typeface="Arial" pitchFamily="34" charset="0"/>
                <a:ea typeface="Arial" pitchFamily="34" charset="-122"/>
                <a:cs typeface="Arial" pitchFamily="34" charset="-120"/>
              </a:rPr>
              <a:t>What the investigator sees on the dashboard</a:t>
            </a:r>
            <a:endParaRPr lang="en-US" sz="3100" dirty="0"/>
          </a:p>
        </p:txBody>
      </p:sp>
      <p:sp>
        <p:nvSpPr>
          <p:cNvPr id="9" name="Shape 7"/>
          <p:cNvSpPr/>
          <p:nvPr/>
        </p:nvSpPr>
        <p:spPr>
          <a:xfrm>
            <a:off x="457200" y="1572768"/>
            <a:ext cx="11277295" cy="0"/>
          </a:xfrm>
          <a:prstGeom prst="line">
            <a:avLst/>
          </a:prstGeom>
          <a:noFill/>
          <a:ln w="12700">
            <a:solidFill>
              <a:srgbClr val="DCE6F2"/>
            </a:solidFill>
            <a:prstDash val="solid"/>
          </a:ln>
        </p:spPr>
      </p:sp>
      <p:sp>
        <p:nvSpPr>
          <p:cNvPr id="10" name="Shape 8"/>
          <p:cNvSpPr/>
          <p:nvPr/>
        </p:nvSpPr>
        <p:spPr>
          <a:xfrm>
            <a:off x="0" y="6711696"/>
            <a:ext cx="12191695" cy="146304"/>
          </a:xfrm>
          <a:prstGeom prst="rect">
            <a:avLst/>
          </a:prstGeom>
          <a:solidFill>
            <a:srgbClr val="F58220"/>
          </a:solidFill>
          <a:ln/>
        </p:spPr>
      </p:sp>
      <p:sp>
        <p:nvSpPr>
          <p:cNvPr id="11" name="Text 9"/>
          <p:cNvSpPr/>
          <p:nvPr/>
        </p:nvSpPr>
        <p:spPr>
          <a:xfrm>
            <a:off x="11368735" y="6291072"/>
            <a:ext cx="457200" cy="274320"/>
          </a:xfrm>
          <a:prstGeom prst="rect">
            <a:avLst/>
          </a:prstGeom>
          <a:noFill/>
          <a:ln/>
        </p:spPr>
        <p:txBody>
          <a:bodyPr wrap="square" lIns="0" tIns="0" rIns="0" bIns="0" rtlCol="0" anchor="ctr"/>
          <a:lstStyle/>
          <a:p>
            <a:pPr algn="r" indent="0" marL="0">
              <a:buNone/>
            </a:pPr>
            <a:r>
              <a:rPr lang="en-US" sz="1100" dirty="0">
                <a:solidFill>
                  <a:srgbClr val="7A879A"/>
                </a:solidFill>
                <a:latin typeface="Arial" pitchFamily="34" charset="0"/>
                <a:ea typeface="Arial" pitchFamily="34" charset="-122"/>
                <a:cs typeface="Arial" pitchFamily="34" charset="-120"/>
              </a:rPr>
              <a:t>4</a:t>
            </a:r>
            <a:endParaRPr lang="en-US" sz="1100" dirty="0"/>
          </a:p>
        </p:txBody>
      </p:sp>
      <p:sp>
        <p:nvSpPr>
          <p:cNvPr id="12" name="Shape 10"/>
          <p:cNvSpPr/>
          <p:nvPr/>
        </p:nvSpPr>
        <p:spPr>
          <a:xfrm>
            <a:off x="457200" y="1920240"/>
            <a:ext cx="6355080" cy="4160520"/>
          </a:xfrm>
          <a:prstGeom prst="roundRect">
            <a:avLst>
              <a:gd name="adj" fmla="val 2198"/>
            </a:avLst>
          </a:prstGeom>
          <a:solidFill>
            <a:srgbClr val="F7FBFF"/>
          </a:solidFill>
          <a:ln w="12700">
            <a:solidFill>
              <a:srgbClr val="B8D3EF"/>
            </a:solidFill>
            <a:prstDash val="solid"/>
          </a:ln>
          <a:effectLst>
            <a:outerShdw sx="100000" sy="100000" kx="0" ky="0" algn="bl" rotWithShape="0" blurRad="88900" dist="38100" dir="5400000">
              <a:srgbClr val="9FB3CC">
                <a:alpha val="28000"/>
              </a:srgbClr>
            </a:outerShdw>
          </a:effectLst>
        </p:spPr>
      </p:sp>
      <p:sp>
        <p:nvSpPr>
          <p:cNvPr id="13" name="Shape 11"/>
          <p:cNvSpPr/>
          <p:nvPr/>
        </p:nvSpPr>
        <p:spPr>
          <a:xfrm>
            <a:off x="457200" y="1920240"/>
            <a:ext cx="6355080" cy="658368"/>
          </a:xfrm>
          <a:prstGeom prst="roundRect">
            <a:avLst>
              <a:gd name="adj" fmla="val 13889"/>
            </a:avLst>
          </a:prstGeom>
          <a:solidFill>
            <a:srgbClr val="15223B"/>
          </a:solidFill>
          <a:ln/>
        </p:spPr>
      </p:sp>
      <p:sp>
        <p:nvSpPr>
          <p:cNvPr id="14" name="Shape 12"/>
          <p:cNvSpPr/>
          <p:nvPr/>
        </p:nvSpPr>
        <p:spPr>
          <a:xfrm>
            <a:off x="457200" y="2249424"/>
            <a:ext cx="6355080" cy="329184"/>
          </a:xfrm>
          <a:prstGeom prst="rect">
            <a:avLst/>
          </a:prstGeom>
          <a:solidFill>
            <a:srgbClr val="15223B"/>
          </a:solidFill>
          <a:ln/>
        </p:spPr>
      </p:sp>
      <p:sp>
        <p:nvSpPr>
          <p:cNvPr id="15" name="Text 13"/>
          <p:cNvSpPr/>
          <p:nvPr/>
        </p:nvSpPr>
        <p:spPr>
          <a:xfrm>
            <a:off x="731520" y="1920240"/>
            <a:ext cx="4343400" cy="658368"/>
          </a:xfrm>
          <a:prstGeom prst="rect">
            <a:avLst/>
          </a:prstGeom>
          <a:noFill/>
          <a:ln/>
        </p:spPr>
        <p:txBody>
          <a:bodyPr wrap="square" lIns="0" tIns="0" rIns="0" bIns="0" rtlCol="0" anchor="ctr"/>
          <a:lstStyle/>
          <a:p>
            <a:pPr algn="l" indent="0" marL="0">
              <a:buNone/>
            </a:pPr>
            <a:r>
              <a:rPr lang="en-US" sz="1350" b="1" dirty="0">
                <a:solidFill>
                  <a:srgbClr val="FFFFFF"/>
                </a:solidFill>
                <a:latin typeface="Arial" pitchFamily="34" charset="0"/>
                <a:ea typeface="Arial" pitchFamily="34" charset="-122"/>
                <a:cs typeface="Arial" pitchFamily="34" charset="-120"/>
              </a:rPr>
              <a:t>Complaint  TP-RCU-UP-00517 / 2025</a:t>
            </a:r>
            <a:endParaRPr lang="en-US" sz="1350" dirty="0"/>
          </a:p>
        </p:txBody>
      </p:sp>
      <p:sp>
        <p:nvSpPr>
          <p:cNvPr id="16" name="Shape 14"/>
          <p:cNvSpPr/>
          <p:nvPr/>
        </p:nvSpPr>
        <p:spPr>
          <a:xfrm>
            <a:off x="5120640" y="2075688"/>
            <a:ext cx="1417320" cy="347472"/>
          </a:xfrm>
          <a:prstGeom prst="roundRect">
            <a:avLst>
              <a:gd name="adj" fmla="val 50000"/>
            </a:avLst>
          </a:prstGeom>
          <a:solidFill>
            <a:srgbClr val="F58220"/>
          </a:solidFill>
          <a:ln/>
        </p:spPr>
      </p:sp>
      <p:sp>
        <p:nvSpPr>
          <p:cNvPr id="17" name="Text 15"/>
          <p:cNvSpPr/>
          <p:nvPr/>
        </p:nvSpPr>
        <p:spPr>
          <a:xfrm>
            <a:off x="5120640" y="2075688"/>
            <a:ext cx="1417320" cy="347472"/>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Arial" pitchFamily="34" charset="0"/>
                <a:ea typeface="Arial" pitchFamily="34" charset="-122"/>
                <a:cs typeface="Arial" pitchFamily="34" charset="-120"/>
              </a:rPr>
              <a:t>HIGH REVIEW</a:t>
            </a:r>
            <a:endParaRPr lang="en-US" sz="950" dirty="0"/>
          </a:p>
        </p:txBody>
      </p:sp>
      <p:sp>
        <p:nvSpPr>
          <p:cNvPr id="18" name="Shape 16"/>
          <p:cNvSpPr/>
          <p:nvPr/>
        </p:nvSpPr>
        <p:spPr>
          <a:xfrm>
            <a:off x="713232" y="2816352"/>
            <a:ext cx="5843016" cy="576072"/>
          </a:xfrm>
          <a:prstGeom prst="roundRect">
            <a:avLst>
              <a:gd name="adj" fmla="val 7937"/>
            </a:avLst>
          </a:prstGeom>
          <a:solidFill>
            <a:srgbClr val="FFFFFF"/>
          </a:solidFill>
          <a:ln w="12700">
            <a:solidFill>
              <a:srgbClr val="DCE6F2"/>
            </a:solidFill>
            <a:prstDash val="solid"/>
          </a:ln>
        </p:spPr>
      </p:sp>
      <p:sp>
        <p:nvSpPr>
          <p:cNvPr id="19" name="Shape 17"/>
          <p:cNvSpPr/>
          <p:nvPr/>
        </p:nvSpPr>
        <p:spPr>
          <a:xfrm>
            <a:off x="841248" y="2939796"/>
            <a:ext cx="841248" cy="320040"/>
          </a:xfrm>
          <a:prstGeom prst="roundRect">
            <a:avLst>
              <a:gd name="adj" fmla="val 50000"/>
            </a:avLst>
          </a:prstGeom>
          <a:solidFill>
            <a:srgbClr val="004A98"/>
          </a:solidFill>
          <a:ln/>
        </p:spPr>
      </p:sp>
      <p:sp>
        <p:nvSpPr>
          <p:cNvPr id="20" name="Text 18"/>
          <p:cNvSpPr/>
          <p:nvPr/>
        </p:nvSpPr>
        <p:spPr>
          <a:xfrm>
            <a:off x="841248" y="2939796"/>
            <a:ext cx="841248"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pitchFamily="34" charset="0"/>
                <a:ea typeface="Arial" pitchFamily="34" charset="-122"/>
                <a:cs typeface="Arial" pitchFamily="34" charset="-120"/>
              </a:rPr>
              <a:t>NEWS</a:t>
            </a:r>
            <a:endParaRPr lang="en-US" sz="900" dirty="0"/>
          </a:p>
        </p:txBody>
      </p:sp>
      <p:sp>
        <p:nvSpPr>
          <p:cNvPr id="21" name="Text 19"/>
          <p:cNvSpPr/>
          <p:nvPr/>
        </p:nvSpPr>
        <p:spPr>
          <a:xfrm>
            <a:off x="1783080" y="2816352"/>
            <a:ext cx="4023360" cy="576072"/>
          </a:xfrm>
          <a:prstGeom prst="rect">
            <a:avLst/>
          </a:prstGeom>
          <a:noFill/>
          <a:ln/>
        </p:spPr>
        <p:txBody>
          <a:bodyPr wrap="square" lIns="0" tIns="0" rIns="0" bIns="0" rtlCol="0" anchor="ctr"/>
          <a:lstStyle/>
          <a:p>
            <a:pPr algn="l" indent="0" marL="0">
              <a:buNone/>
            </a:pPr>
            <a:r>
              <a:rPr lang="en-US" sz="1150" dirty="0">
                <a:solidFill>
                  <a:srgbClr val="15223B"/>
                </a:solidFill>
                <a:latin typeface="Arial" pitchFamily="34" charset="0"/>
                <a:ea typeface="Arial" pitchFamily="34" charset="-122"/>
                <a:cs typeface="Arial" pitchFamily="34" charset="-120"/>
              </a:rPr>
              <a:t>Bike-truck collision near Kosi Kalan, NH-2</a:t>
            </a:r>
            <a:endParaRPr lang="en-US" sz="1150" dirty="0"/>
          </a:p>
        </p:txBody>
      </p:sp>
      <p:sp>
        <p:nvSpPr>
          <p:cNvPr id="22" name="Shape 20"/>
          <p:cNvSpPr/>
          <p:nvPr/>
        </p:nvSpPr>
        <p:spPr>
          <a:xfrm>
            <a:off x="5879592" y="2935224"/>
            <a:ext cx="603504" cy="329184"/>
          </a:xfrm>
          <a:prstGeom prst="roundRect">
            <a:avLst>
              <a:gd name="adj" fmla="val 13889"/>
            </a:avLst>
          </a:prstGeom>
          <a:solidFill>
            <a:srgbClr val="EAF3FF"/>
          </a:solidFill>
          <a:ln/>
        </p:spPr>
      </p:sp>
      <p:sp>
        <p:nvSpPr>
          <p:cNvPr id="23" name="Text 21"/>
          <p:cNvSpPr/>
          <p:nvPr/>
        </p:nvSpPr>
        <p:spPr>
          <a:xfrm>
            <a:off x="5879592" y="2935224"/>
            <a:ext cx="603504" cy="329184"/>
          </a:xfrm>
          <a:prstGeom prst="rect">
            <a:avLst/>
          </a:prstGeom>
          <a:noFill/>
          <a:ln/>
        </p:spPr>
        <p:txBody>
          <a:bodyPr wrap="square" lIns="0" tIns="0" rIns="0" bIns="0" rtlCol="0" anchor="ctr"/>
          <a:lstStyle/>
          <a:p>
            <a:pPr algn="ctr" indent="0" marL="0">
              <a:buNone/>
            </a:pPr>
            <a:r>
              <a:rPr lang="en-US" sz="1100" b="1" dirty="0">
                <a:solidFill>
                  <a:srgbClr val="00315D"/>
                </a:solidFill>
                <a:latin typeface="Arial" pitchFamily="34" charset="0"/>
                <a:ea typeface="Arial" pitchFamily="34" charset="-122"/>
                <a:cs typeface="Arial" pitchFamily="34" charset="-120"/>
              </a:rPr>
              <a:t>0.86</a:t>
            </a:r>
            <a:endParaRPr lang="en-US" sz="1100" dirty="0"/>
          </a:p>
        </p:txBody>
      </p:sp>
      <p:sp>
        <p:nvSpPr>
          <p:cNvPr id="24" name="Shape 22"/>
          <p:cNvSpPr/>
          <p:nvPr/>
        </p:nvSpPr>
        <p:spPr>
          <a:xfrm>
            <a:off x="713232" y="3538728"/>
            <a:ext cx="5843016" cy="576072"/>
          </a:xfrm>
          <a:prstGeom prst="roundRect">
            <a:avLst>
              <a:gd name="adj" fmla="val 7937"/>
            </a:avLst>
          </a:prstGeom>
          <a:solidFill>
            <a:srgbClr val="FFFFFF"/>
          </a:solidFill>
          <a:ln w="12700">
            <a:solidFill>
              <a:srgbClr val="DCE6F2"/>
            </a:solidFill>
            <a:prstDash val="solid"/>
          </a:ln>
        </p:spPr>
      </p:sp>
      <p:sp>
        <p:nvSpPr>
          <p:cNvPr id="25" name="Shape 23"/>
          <p:cNvSpPr/>
          <p:nvPr/>
        </p:nvSpPr>
        <p:spPr>
          <a:xfrm>
            <a:off x="841248" y="3662172"/>
            <a:ext cx="841248" cy="320040"/>
          </a:xfrm>
          <a:prstGeom prst="roundRect">
            <a:avLst>
              <a:gd name="adj" fmla="val 50000"/>
            </a:avLst>
          </a:prstGeom>
          <a:solidFill>
            <a:srgbClr val="15223B"/>
          </a:solidFill>
          <a:ln/>
        </p:spPr>
      </p:sp>
      <p:sp>
        <p:nvSpPr>
          <p:cNvPr id="26" name="Text 24"/>
          <p:cNvSpPr/>
          <p:nvPr/>
        </p:nvSpPr>
        <p:spPr>
          <a:xfrm>
            <a:off x="841248" y="3662172"/>
            <a:ext cx="841248"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pitchFamily="34" charset="0"/>
                <a:ea typeface="Arial" pitchFamily="34" charset="-122"/>
                <a:cs typeface="Arial" pitchFamily="34" charset="-120"/>
              </a:rPr>
              <a:t>QUEST</a:t>
            </a:r>
            <a:endParaRPr lang="en-US" sz="900" dirty="0"/>
          </a:p>
        </p:txBody>
      </p:sp>
      <p:sp>
        <p:nvSpPr>
          <p:cNvPr id="27" name="Text 25"/>
          <p:cNvSpPr/>
          <p:nvPr/>
        </p:nvSpPr>
        <p:spPr>
          <a:xfrm>
            <a:off x="1783080" y="3538728"/>
            <a:ext cx="4023360" cy="576072"/>
          </a:xfrm>
          <a:prstGeom prst="rect">
            <a:avLst/>
          </a:prstGeom>
          <a:noFill/>
          <a:ln/>
        </p:spPr>
        <p:txBody>
          <a:bodyPr wrap="square" lIns="0" tIns="0" rIns="0" bIns="0" rtlCol="0" anchor="ctr"/>
          <a:lstStyle/>
          <a:p>
            <a:pPr algn="l" indent="0" marL="0">
              <a:buNone/>
            </a:pPr>
            <a:r>
              <a:rPr lang="en-US" sz="1150" dirty="0">
                <a:solidFill>
                  <a:srgbClr val="15223B"/>
                </a:solidFill>
                <a:latin typeface="Arial" pitchFamily="34" charset="0"/>
                <a:ea typeface="Arial" pitchFamily="34" charset="-122"/>
                <a:cs typeface="Arial" pitchFamily="34" charset="-120"/>
              </a:rPr>
              <a:t>FIR cause vs claim narrative — mismatch</a:t>
            </a:r>
            <a:endParaRPr lang="en-US" sz="1150" dirty="0"/>
          </a:p>
        </p:txBody>
      </p:sp>
      <p:sp>
        <p:nvSpPr>
          <p:cNvPr id="28" name="Shape 26"/>
          <p:cNvSpPr/>
          <p:nvPr/>
        </p:nvSpPr>
        <p:spPr>
          <a:xfrm>
            <a:off x="5879592" y="3657600"/>
            <a:ext cx="603504" cy="329184"/>
          </a:xfrm>
          <a:prstGeom prst="roundRect">
            <a:avLst>
              <a:gd name="adj" fmla="val 13889"/>
            </a:avLst>
          </a:prstGeom>
          <a:solidFill>
            <a:srgbClr val="EAF3FF"/>
          </a:solidFill>
          <a:ln/>
        </p:spPr>
      </p:sp>
      <p:sp>
        <p:nvSpPr>
          <p:cNvPr id="29" name="Text 27"/>
          <p:cNvSpPr/>
          <p:nvPr/>
        </p:nvSpPr>
        <p:spPr>
          <a:xfrm>
            <a:off x="5879592" y="3657600"/>
            <a:ext cx="603504" cy="329184"/>
          </a:xfrm>
          <a:prstGeom prst="rect">
            <a:avLst/>
          </a:prstGeom>
          <a:noFill/>
          <a:ln/>
        </p:spPr>
        <p:txBody>
          <a:bodyPr wrap="square" lIns="0" tIns="0" rIns="0" bIns="0" rtlCol="0" anchor="ctr"/>
          <a:lstStyle/>
          <a:p>
            <a:pPr algn="ctr" indent="0" marL="0">
              <a:buNone/>
            </a:pPr>
            <a:r>
              <a:rPr lang="en-US" sz="1100" b="1" dirty="0">
                <a:solidFill>
                  <a:srgbClr val="00315D"/>
                </a:solidFill>
                <a:latin typeface="Arial" pitchFamily="34" charset="0"/>
                <a:ea typeface="Arial" pitchFamily="34" charset="-122"/>
                <a:cs typeface="Arial" pitchFamily="34" charset="-120"/>
              </a:rPr>
              <a:t>0.81</a:t>
            </a:r>
            <a:endParaRPr lang="en-US" sz="1100" dirty="0"/>
          </a:p>
        </p:txBody>
      </p:sp>
      <p:sp>
        <p:nvSpPr>
          <p:cNvPr id="30" name="Shape 28"/>
          <p:cNvSpPr/>
          <p:nvPr/>
        </p:nvSpPr>
        <p:spPr>
          <a:xfrm>
            <a:off x="713232" y="4261104"/>
            <a:ext cx="5843016" cy="576072"/>
          </a:xfrm>
          <a:prstGeom prst="roundRect">
            <a:avLst>
              <a:gd name="adj" fmla="val 7937"/>
            </a:avLst>
          </a:prstGeom>
          <a:solidFill>
            <a:srgbClr val="FFFFFF"/>
          </a:solidFill>
          <a:ln w="12700">
            <a:solidFill>
              <a:srgbClr val="DCE6F2"/>
            </a:solidFill>
            <a:prstDash val="solid"/>
          </a:ln>
        </p:spPr>
      </p:sp>
      <p:sp>
        <p:nvSpPr>
          <p:cNvPr id="31" name="Shape 29"/>
          <p:cNvSpPr/>
          <p:nvPr/>
        </p:nvSpPr>
        <p:spPr>
          <a:xfrm>
            <a:off x="841248" y="4384548"/>
            <a:ext cx="841248" cy="320040"/>
          </a:xfrm>
          <a:prstGeom prst="roundRect">
            <a:avLst>
              <a:gd name="adj" fmla="val 50000"/>
            </a:avLst>
          </a:prstGeom>
          <a:solidFill>
            <a:srgbClr val="0F8B8D"/>
          </a:solidFill>
          <a:ln/>
        </p:spPr>
      </p:sp>
      <p:sp>
        <p:nvSpPr>
          <p:cNvPr id="32" name="Text 30"/>
          <p:cNvSpPr/>
          <p:nvPr/>
        </p:nvSpPr>
        <p:spPr>
          <a:xfrm>
            <a:off x="841248" y="4384548"/>
            <a:ext cx="841248"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pitchFamily="34" charset="0"/>
                <a:ea typeface="Arial" pitchFamily="34" charset="-122"/>
                <a:cs typeface="Arial" pitchFamily="34" charset="-120"/>
              </a:rPr>
              <a:t>WEB</a:t>
            </a:r>
            <a:endParaRPr lang="en-US" sz="900" dirty="0"/>
          </a:p>
        </p:txBody>
      </p:sp>
      <p:sp>
        <p:nvSpPr>
          <p:cNvPr id="33" name="Text 31"/>
          <p:cNvSpPr/>
          <p:nvPr/>
        </p:nvSpPr>
        <p:spPr>
          <a:xfrm>
            <a:off x="1783080" y="4261104"/>
            <a:ext cx="4023360" cy="576072"/>
          </a:xfrm>
          <a:prstGeom prst="rect">
            <a:avLst/>
          </a:prstGeom>
          <a:noFill/>
          <a:ln/>
        </p:spPr>
        <p:txBody>
          <a:bodyPr wrap="square" lIns="0" tIns="0" rIns="0" bIns="0" rtlCol="0" anchor="ctr"/>
          <a:lstStyle/>
          <a:p>
            <a:pPr algn="l" indent="0" marL="0">
              <a:buNone/>
            </a:pPr>
            <a:r>
              <a:rPr lang="en-US" sz="1150" dirty="0">
                <a:solidFill>
                  <a:srgbClr val="15223B"/>
                </a:solidFill>
                <a:latin typeface="Arial" pitchFamily="34" charset="0"/>
                <a:ea typeface="Arial" pitchFamily="34" charset="-122"/>
                <a:cs typeface="Arial" pitchFamily="34" charset="-120"/>
              </a:rPr>
              <a:t>District accident report, same date &amp; spot</a:t>
            </a:r>
            <a:endParaRPr lang="en-US" sz="1150" dirty="0"/>
          </a:p>
        </p:txBody>
      </p:sp>
      <p:sp>
        <p:nvSpPr>
          <p:cNvPr id="34" name="Shape 32"/>
          <p:cNvSpPr/>
          <p:nvPr/>
        </p:nvSpPr>
        <p:spPr>
          <a:xfrm>
            <a:off x="5879592" y="4379976"/>
            <a:ext cx="603504" cy="329184"/>
          </a:xfrm>
          <a:prstGeom prst="roundRect">
            <a:avLst>
              <a:gd name="adj" fmla="val 13889"/>
            </a:avLst>
          </a:prstGeom>
          <a:solidFill>
            <a:srgbClr val="EAF3FF"/>
          </a:solidFill>
          <a:ln/>
        </p:spPr>
      </p:sp>
      <p:sp>
        <p:nvSpPr>
          <p:cNvPr id="35" name="Text 33"/>
          <p:cNvSpPr/>
          <p:nvPr/>
        </p:nvSpPr>
        <p:spPr>
          <a:xfrm>
            <a:off x="5879592" y="4379976"/>
            <a:ext cx="603504" cy="329184"/>
          </a:xfrm>
          <a:prstGeom prst="rect">
            <a:avLst/>
          </a:prstGeom>
          <a:noFill/>
          <a:ln/>
        </p:spPr>
        <p:txBody>
          <a:bodyPr wrap="square" lIns="0" tIns="0" rIns="0" bIns="0" rtlCol="0" anchor="ctr"/>
          <a:lstStyle/>
          <a:p>
            <a:pPr algn="ctr" indent="0" marL="0">
              <a:buNone/>
            </a:pPr>
            <a:r>
              <a:rPr lang="en-US" sz="1100" b="1" dirty="0">
                <a:solidFill>
                  <a:srgbClr val="00315D"/>
                </a:solidFill>
                <a:latin typeface="Arial" pitchFamily="34" charset="0"/>
                <a:ea typeface="Arial" pitchFamily="34" charset="-122"/>
                <a:cs typeface="Arial" pitchFamily="34" charset="-120"/>
              </a:rPr>
              <a:t>0.74</a:t>
            </a:r>
            <a:endParaRPr lang="en-US" sz="1100" dirty="0"/>
          </a:p>
        </p:txBody>
      </p:sp>
      <p:sp>
        <p:nvSpPr>
          <p:cNvPr id="36" name="Shape 34"/>
          <p:cNvSpPr/>
          <p:nvPr/>
        </p:nvSpPr>
        <p:spPr>
          <a:xfrm>
            <a:off x="713232" y="4983480"/>
            <a:ext cx="5843016" cy="576072"/>
          </a:xfrm>
          <a:prstGeom prst="roundRect">
            <a:avLst>
              <a:gd name="adj" fmla="val 7937"/>
            </a:avLst>
          </a:prstGeom>
          <a:solidFill>
            <a:srgbClr val="FFFFFF"/>
          </a:solidFill>
          <a:ln w="12700">
            <a:solidFill>
              <a:srgbClr val="DCE6F2"/>
            </a:solidFill>
            <a:prstDash val="solid"/>
          </a:ln>
        </p:spPr>
      </p:sp>
      <p:sp>
        <p:nvSpPr>
          <p:cNvPr id="37" name="Shape 35"/>
          <p:cNvSpPr/>
          <p:nvPr/>
        </p:nvSpPr>
        <p:spPr>
          <a:xfrm>
            <a:off x="841248" y="5106924"/>
            <a:ext cx="841248" cy="320040"/>
          </a:xfrm>
          <a:prstGeom prst="roundRect">
            <a:avLst>
              <a:gd name="adj" fmla="val 50000"/>
            </a:avLst>
          </a:prstGeom>
          <a:solidFill>
            <a:srgbClr val="F58220"/>
          </a:solidFill>
          <a:ln/>
        </p:spPr>
      </p:sp>
      <p:sp>
        <p:nvSpPr>
          <p:cNvPr id="38" name="Text 36"/>
          <p:cNvSpPr/>
          <p:nvPr/>
        </p:nvSpPr>
        <p:spPr>
          <a:xfrm>
            <a:off x="841248" y="5106924"/>
            <a:ext cx="841248"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pitchFamily="34" charset="0"/>
                <a:ea typeface="Arial" pitchFamily="34" charset="-122"/>
                <a:cs typeface="Arial" pitchFamily="34" charset="-120"/>
              </a:rPr>
              <a:t>IMAGE</a:t>
            </a:r>
            <a:endParaRPr lang="en-US" sz="900" dirty="0"/>
          </a:p>
        </p:txBody>
      </p:sp>
      <p:sp>
        <p:nvSpPr>
          <p:cNvPr id="39" name="Text 37"/>
          <p:cNvSpPr/>
          <p:nvPr/>
        </p:nvSpPr>
        <p:spPr>
          <a:xfrm>
            <a:off x="1783080" y="4983480"/>
            <a:ext cx="4023360" cy="576072"/>
          </a:xfrm>
          <a:prstGeom prst="rect">
            <a:avLst/>
          </a:prstGeom>
          <a:noFill/>
          <a:ln/>
        </p:spPr>
        <p:txBody>
          <a:bodyPr wrap="square" lIns="0" tIns="0" rIns="0" bIns="0" rtlCol="0" anchor="ctr"/>
          <a:lstStyle/>
          <a:p>
            <a:pPr algn="l" indent="0" marL="0">
              <a:buNone/>
            </a:pPr>
            <a:r>
              <a:rPr lang="en-US" sz="1150" dirty="0">
                <a:solidFill>
                  <a:srgbClr val="15223B"/>
                </a:solidFill>
                <a:latin typeface="Arial" pitchFamily="34" charset="0"/>
                <a:ea typeface="Arial" pitchFamily="34" charset="-122"/>
                <a:cs typeface="Arial" pitchFamily="34" charset="-120"/>
              </a:rPr>
              <a:t>Lens: claim photo found on stock site</a:t>
            </a:r>
            <a:endParaRPr lang="en-US" sz="1150" dirty="0"/>
          </a:p>
        </p:txBody>
      </p:sp>
      <p:sp>
        <p:nvSpPr>
          <p:cNvPr id="40" name="Shape 38"/>
          <p:cNvSpPr/>
          <p:nvPr/>
        </p:nvSpPr>
        <p:spPr>
          <a:xfrm>
            <a:off x="5879592" y="5102352"/>
            <a:ext cx="603504" cy="329184"/>
          </a:xfrm>
          <a:prstGeom prst="roundRect">
            <a:avLst>
              <a:gd name="adj" fmla="val 13889"/>
            </a:avLst>
          </a:prstGeom>
          <a:solidFill>
            <a:srgbClr val="EAF3FF"/>
          </a:solidFill>
          <a:ln/>
        </p:spPr>
      </p:sp>
      <p:sp>
        <p:nvSpPr>
          <p:cNvPr id="41" name="Text 39"/>
          <p:cNvSpPr/>
          <p:nvPr/>
        </p:nvSpPr>
        <p:spPr>
          <a:xfrm>
            <a:off x="5879592" y="5102352"/>
            <a:ext cx="603504" cy="329184"/>
          </a:xfrm>
          <a:prstGeom prst="rect">
            <a:avLst/>
          </a:prstGeom>
          <a:noFill/>
          <a:ln/>
        </p:spPr>
        <p:txBody>
          <a:bodyPr wrap="square" lIns="0" tIns="0" rIns="0" bIns="0" rtlCol="0" anchor="ctr"/>
          <a:lstStyle/>
          <a:p>
            <a:pPr algn="ctr" indent="0" marL="0">
              <a:buNone/>
            </a:pPr>
            <a:r>
              <a:rPr lang="en-US" sz="1100" b="1" dirty="0">
                <a:solidFill>
                  <a:srgbClr val="00315D"/>
                </a:solidFill>
                <a:latin typeface="Arial" pitchFamily="34" charset="0"/>
                <a:ea typeface="Arial" pitchFamily="34" charset="-122"/>
                <a:cs typeface="Arial" pitchFamily="34" charset="-120"/>
              </a:rPr>
              <a:t>0.69</a:t>
            </a:r>
            <a:endParaRPr lang="en-US" sz="1100" dirty="0"/>
          </a:p>
        </p:txBody>
      </p:sp>
      <p:sp>
        <p:nvSpPr>
          <p:cNvPr id="42" name="Text 40"/>
          <p:cNvSpPr/>
          <p:nvPr/>
        </p:nvSpPr>
        <p:spPr>
          <a:xfrm>
            <a:off x="731520" y="5660136"/>
            <a:ext cx="5806440" cy="292608"/>
          </a:xfrm>
          <a:prstGeom prst="rect">
            <a:avLst/>
          </a:prstGeom>
          <a:noFill/>
          <a:ln/>
        </p:spPr>
        <p:txBody>
          <a:bodyPr wrap="square" lIns="0" tIns="0" rIns="0" bIns="0" rtlCol="0" anchor="ctr"/>
          <a:lstStyle/>
          <a:p>
            <a:pPr algn="l" indent="0" marL="0">
              <a:buNone/>
            </a:pPr>
            <a:r>
              <a:rPr lang="en-US" sz="1050" i="1" dirty="0">
                <a:solidFill>
                  <a:srgbClr val="7A879A"/>
                </a:solidFill>
                <a:latin typeface="Arial" pitchFamily="34" charset="0"/>
                <a:ea typeface="Arial" pitchFamily="34" charset="-122"/>
                <a:cs typeface="Arial" pitchFamily="34" charset="-120"/>
              </a:rPr>
              <a:t>Top 10 results shown — ranked by relevance to the claim</a:t>
            </a:r>
            <a:endParaRPr lang="en-US" sz="1050" dirty="0"/>
          </a:p>
        </p:txBody>
      </p:sp>
      <p:sp>
        <p:nvSpPr>
          <p:cNvPr id="43" name="Text 41"/>
          <p:cNvSpPr/>
          <p:nvPr/>
        </p:nvSpPr>
        <p:spPr>
          <a:xfrm>
            <a:off x="7086600" y="1874520"/>
            <a:ext cx="4647895" cy="365760"/>
          </a:xfrm>
          <a:prstGeom prst="rect">
            <a:avLst/>
          </a:prstGeom>
          <a:noFill/>
          <a:ln/>
        </p:spPr>
        <p:txBody>
          <a:bodyPr wrap="square" lIns="0" tIns="0" rIns="0" bIns="0" rtlCol="0" anchor="ctr"/>
          <a:lstStyle/>
          <a:p>
            <a:pPr algn="l" indent="0" marL="0">
              <a:buNone/>
            </a:pPr>
            <a:r>
              <a:rPr lang="en-US" sz="1600" b="1" dirty="0">
                <a:solidFill>
                  <a:srgbClr val="F58220"/>
                </a:solidFill>
                <a:latin typeface="Arial" pitchFamily="34" charset="0"/>
                <a:ea typeface="Arial" pitchFamily="34" charset="-122"/>
                <a:cs typeface="Arial" pitchFamily="34" charset="-120"/>
              </a:rPr>
              <a:t>On every complaint screen</a:t>
            </a:r>
            <a:endParaRPr lang="en-US" sz="1600" dirty="0"/>
          </a:p>
        </p:txBody>
      </p:sp>
      <p:sp>
        <p:nvSpPr>
          <p:cNvPr id="44" name="Text 42"/>
          <p:cNvSpPr/>
          <p:nvPr/>
        </p:nvSpPr>
        <p:spPr>
          <a:xfrm>
            <a:off x="7086600" y="2377440"/>
            <a:ext cx="4647895" cy="2743200"/>
          </a:xfrm>
          <a:prstGeom prst="rect">
            <a:avLst/>
          </a:prstGeom>
          <a:noFill/>
          <a:ln/>
        </p:spPr>
        <p:txBody>
          <a:bodyPr wrap="square" lIns="0" tIns="0" rIns="0" bIns="0" rtlCol="0" anchor="t"/>
          <a:lstStyle/>
          <a:p>
            <a:pPr algn="l" marL="228600" indent="-228600">
              <a:lnSpc>
                <a:spcPct val="110000"/>
              </a:lnSpc>
              <a:spcAft>
                <a:spcPts val="1000"/>
              </a:spcAft>
              <a:buSzPct val="100000"/>
              <a:buChar char="•"/>
            </a:pPr>
            <a:r>
              <a:rPr lang="en-US" sz="1350" dirty="0">
                <a:solidFill>
                  <a:srgbClr val="5B677A"/>
                </a:solidFill>
                <a:latin typeface="Arial" pitchFamily="34" charset="0"/>
                <a:ea typeface="Arial" pitchFamily="34" charset="-122"/>
                <a:cs typeface="Arial" pitchFamily="34" charset="-120"/>
              </a:rPr>
              <a:t>10 most relevant links, ranked per complaint</a:t>
            </a:r>
            <a:endParaRPr lang="en-US" sz="1350" dirty="0"/>
          </a:p>
          <a:p>
            <a:pPr algn="l" marL="228600" indent="-228600">
              <a:lnSpc>
                <a:spcPct val="110000"/>
              </a:lnSpc>
              <a:spcAft>
                <a:spcPts val="1000"/>
              </a:spcAft>
              <a:buSzPct val="100000"/>
              <a:buChar char="•"/>
            </a:pPr>
            <a:r>
              <a:rPr lang="en-US" sz="1350" dirty="0">
                <a:solidFill>
                  <a:srgbClr val="5B677A"/>
                </a:solidFill>
                <a:latin typeface="Arial" pitchFamily="34" charset="0"/>
                <a:ea typeface="Arial" pitchFamily="34" charset="-122"/>
                <a:cs typeface="Arial" pitchFamily="34" charset="-120"/>
              </a:rPr>
              <a:t>Source tags on every result — Quest, News, Web, Image</a:t>
            </a:r>
            <a:endParaRPr lang="en-US" sz="1350" dirty="0"/>
          </a:p>
          <a:p>
            <a:pPr algn="l" marL="228600" indent="-228600">
              <a:lnSpc>
                <a:spcPct val="110000"/>
              </a:lnSpc>
              <a:spcAft>
                <a:spcPts val="1000"/>
              </a:spcAft>
              <a:buSzPct val="100000"/>
              <a:buChar char="•"/>
            </a:pPr>
            <a:r>
              <a:rPr lang="en-US" sz="1350" dirty="0">
                <a:solidFill>
                  <a:srgbClr val="5B677A"/>
                </a:solidFill>
                <a:latin typeface="Arial" pitchFamily="34" charset="0"/>
                <a:ea typeface="Arial" pitchFamily="34" charset="-122"/>
                <a:cs typeface="Arial" pitchFamily="34" charset="-120"/>
              </a:rPr>
              <a:t>Relevance score so the strongest evidence rises to the top</a:t>
            </a:r>
            <a:endParaRPr lang="en-US" sz="1350" dirty="0"/>
          </a:p>
          <a:p>
            <a:pPr algn="l" marL="228600" indent="-228600">
              <a:lnSpc>
                <a:spcPct val="110000"/>
              </a:lnSpc>
              <a:spcAft>
                <a:spcPts val="1000"/>
              </a:spcAft>
              <a:buSzPct val="100000"/>
              <a:buChar char="•"/>
            </a:pPr>
            <a:r>
              <a:rPr lang="en-US" sz="1350" dirty="0">
                <a:solidFill>
                  <a:srgbClr val="5B677A"/>
                </a:solidFill>
                <a:latin typeface="Arial" pitchFamily="34" charset="0"/>
                <a:ea typeface="Arial" pitchFamily="34" charset="-122"/>
                <a:cs typeface="Arial" pitchFamily="34" charset="-120"/>
              </a:rPr>
              <a:t>One-click open to read the article or view the page</a:t>
            </a:r>
            <a:endParaRPr lang="en-US" sz="1350" dirty="0"/>
          </a:p>
          <a:p>
            <a:pPr algn="l" marL="228600" indent="-228600">
              <a:lnSpc>
                <a:spcPct val="110000"/>
              </a:lnSpc>
              <a:spcAft>
                <a:spcPts val="1000"/>
              </a:spcAft>
              <a:buSzPct val="100000"/>
              <a:buChar char="•"/>
            </a:pPr>
            <a:r>
              <a:rPr lang="en-US" sz="1350" dirty="0">
                <a:solidFill>
                  <a:srgbClr val="5B677A"/>
                </a:solidFill>
                <a:latin typeface="Arial" pitchFamily="34" charset="0"/>
                <a:ea typeface="Arial" pitchFamily="34" charset="-122"/>
                <a:cs typeface="Arial" pitchFamily="34" charset="-120"/>
              </a:rPr>
              <a:t>Google Lens photo matches for claim images</a:t>
            </a:r>
            <a:endParaRPr lang="en-US" sz="1350" dirty="0"/>
          </a:p>
          <a:p>
            <a:pPr algn="l" marL="228600" indent="-228600">
              <a:lnSpc>
                <a:spcPct val="110000"/>
              </a:lnSpc>
              <a:spcAft>
                <a:spcPts val="1000"/>
              </a:spcAft>
              <a:buSzPct val="100000"/>
              <a:buChar char="•"/>
            </a:pPr>
            <a:r>
              <a:rPr lang="en-US" sz="1350" dirty="0">
                <a:solidFill>
                  <a:srgbClr val="5B677A"/>
                </a:solidFill>
                <a:latin typeface="Arial" pitchFamily="34" charset="0"/>
                <a:ea typeface="Arial" pitchFamily="34" charset="-122"/>
                <a:cs typeface="Arial" pitchFamily="34" charset="-120"/>
              </a:rPr>
              <a:t>Export the evidence pack to Excel or PDF for RCU handoff</a:t>
            </a:r>
            <a:endParaRPr lang="en-US" sz="1350" dirty="0"/>
          </a:p>
        </p:txBody>
      </p:sp>
      <p:sp>
        <p:nvSpPr>
          <p:cNvPr id="45" name="Shape 43"/>
          <p:cNvSpPr/>
          <p:nvPr/>
        </p:nvSpPr>
        <p:spPr>
          <a:xfrm>
            <a:off x="7086600" y="5349240"/>
            <a:ext cx="4647895" cy="713232"/>
          </a:xfrm>
          <a:prstGeom prst="roundRect">
            <a:avLst>
              <a:gd name="adj" fmla="val 10256"/>
            </a:avLst>
          </a:prstGeom>
          <a:solidFill>
            <a:srgbClr val="FFF1E5"/>
          </a:solidFill>
          <a:ln w="12700">
            <a:solidFill>
              <a:srgbClr val="FFD5B5"/>
            </a:solidFill>
            <a:prstDash val="solid"/>
          </a:ln>
        </p:spPr>
      </p:sp>
      <p:sp>
        <p:nvSpPr>
          <p:cNvPr id="46" name="Shape 44"/>
          <p:cNvSpPr/>
          <p:nvPr/>
        </p:nvSpPr>
        <p:spPr>
          <a:xfrm>
            <a:off x="7287768" y="5532120"/>
            <a:ext cx="1417320" cy="347472"/>
          </a:xfrm>
          <a:prstGeom prst="roundRect">
            <a:avLst>
              <a:gd name="adj" fmla="val 50000"/>
            </a:avLst>
          </a:prstGeom>
          <a:solidFill>
            <a:srgbClr val="F58220"/>
          </a:solidFill>
          <a:ln/>
        </p:spPr>
      </p:sp>
      <p:sp>
        <p:nvSpPr>
          <p:cNvPr id="47" name="Text 45"/>
          <p:cNvSpPr/>
          <p:nvPr/>
        </p:nvSpPr>
        <p:spPr>
          <a:xfrm>
            <a:off x="7287768" y="5532120"/>
            <a:ext cx="1417320" cy="347472"/>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Arial" pitchFamily="34" charset="0"/>
                <a:ea typeface="Arial" pitchFamily="34" charset="-122"/>
                <a:cs typeface="Arial" pitchFamily="34" charset="-120"/>
              </a:rPr>
              <a:t>HUMAN-IN-LOOP</a:t>
            </a:r>
            <a:endParaRPr lang="en-US" sz="950" dirty="0"/>
          </a:p>
        </p:txBody>
      </p:sp>
      <p:sp>
        <p:nvSpPr>
          <p:cNvPr id="48" name="Text 46"/>
          <p:cNvSpPr/>
          <p:nvPr/>
        </p:nvSpPr>
        <p:spPr>
          <a:xfrm>
            <a:off x="8823960" y="5349240"/>
            <a:ext cx="2727655" cy="713232"/>
          </a:xfrm>
          <a:prstGeom prst="rect">
            <a:avLst/>
          </a:prstGeom>
          <a:noFill/>
          <a:ln/>
        </p:spPr>
        <p:txBody>
          <a:bodyPr wrap="square" lIns="0" tIns="0" rIns="0" bIns="0" rtlCol="0" anchor="ctr"/>
          <a:lstStyle/>
          <a:p>
            <a:pPr algn="l" indent="0" marL="0">
              <a:lnSpc>
                <a:spcPct val="108000"/>
              </a:lnSpc>
              <a:buNone/>
            </a:pPr>
            <a:r>
              <a:rPr lang="en-US" sz="1150" dirty="0">
                <a:solidFill>
                  <a:srgbClr val="15223B"/>
                </a:solidFill>
                <a:latin typeface="Arial" pitchFamily="34" charset="0"/>
                <a:ea typeface="Arial" pitchFamily="34" charset="-122"/>
                <a:cs typeface="Arial" pitchFamily="34" charset="-120"/>
              </a:rPr>
              <a:t>The dashboard surfaces evidence; the investigator makes the final call.</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5223B"/>
          </a:solidFill>
          <a:ln/>
        </p:spPr>
      </p:sp>
      <p:sp>
        <p:nvSpPr>
          <p:cNvPr id="3" name="Shape 1"/>
          <p:cNvSpPr/>
          <p:nvPr/>
        </p:nvSpPr>
        <p:spPr>
          <a:xfrm>
            <a:off x="0" y="128016"/>
            <a:ext cx="12191695" cy="32004"/>
          </a:xfrm>
          <a:prstGeom prst="rect">
            <a:avLst/>
          </a:prstGeom>
          <a:solidFill>
            <a:srgbClr val="F58220"/>
          </a:solidFill>
          <a:ln/>
        </p:spPr>
      </p:sp>
      <p:sp>
        <p:nvSpPr>
          <p:cNvPr id="4" name="Text 2"/>
          <p:cNvSpPr/>
          <p:nvPr/>
        </p:nvSpPr>
        <p:spPr>
          <a:xfrm>
            <a:off x="457200" y="274320"/>
            <a:ext cx="3657600" cy="365760"/>
          </a:xfrm>
          <a:prstGeom prst="rect">
            <a:avLst/>
          </a:prstGeom>
          <a:noFill/>
          <a:ln/>
        </p:spPr>
        <p:txBody>
          <a:bodyPr wrap="square" lIns="0" tIns="0" rIns="0" bIns="0" rtlCol="0" anchor="ctr"/>
          <a:lstStyle/>
          <a:p>
            <a:pPr algn="l" indent="0" marL="0">
              <a:buNone/>
            </a:pPr>
            <a:r>
              <a:rPr lang="en-US" sz="1300" b="1" dirty="0">
                <a:solidFill>
                  <a:srgbClr val="004A98"/>
                </a:solidFill>
                <a:latin typeface="Arial" pitchFamily="34" charset="0"/>
                <a:ea typeface="Arial" pitchFamily="34" charset="-122"/>
                <a:cs typeface="Arial" pitchFamily="34" charset="-120"/>
              </a:rPr>
              <a:t>Universal Sompo</a:t>
            </a:r>
            <a:endParaRPr lang="en-US" sz="1300" dirty="0"/>
          </a:p>
        </p:txBody>
      </p:sp>
      <p:sp>
        <p:nvSpPr>
          <p:cNvPr id="5" name="Shape 3"/>
          <p:cNvSpPr/>
          <p:nvPr/>
        </p:nvSpPr>
        <p:spPr>
          <a:xfrm>
            <a:off x="2505456" y="310896"/>
            <a:ext cx="201168" cy="32004"/>
          </a:xfrm>
          <a:prstGeom prst="rect">
            <a:avLst/>
          </a:prstGeom>
          <a:solidFill>
            <a:srgbClr val="F58220"/>
          </a:solidFill>
          <a:ln/>
        </p:spPr>
      </p:sp>
      <p:sp>
        <p:nvSpPr>
          <p:cNvPr id="6" name="Shape 4"/>
          <p:cNvSpPr/>
          <p:nvPr/>
        </p:nvSpPr>
        <p:spPr>
          <a:xfrm>
            <a:off x="2674620" y="310896"/>
            <a:ext cx="32004" cy="201168"/>
          </a:xfrm>
          <a:prstGeom prst="rect">
            <a:avLst/>
          </a:prstGeom>
          <a:solidFill>
            <a:srgbClr val="F58220"/>
          </a:solidFill>
          <a:ln/>
        </p:spPr>
      </p:sp>
      <p:sp>
        <p:nvSpPr>
          <p:cNvPr id="7" name="Text 5"/>
          <p:cNvSpPr/>
          <p:nvPr/>
        </p:nvSpPr>
        <p:spPr>
          <a:xfrm>
            <a:off x="8076895" y="274320"/>
            <a:ext cx="3657600" cy="365760"/>
          </a:xfrm>
          <a:prstGeom prst="rect">
            <a:avLst/>
          </a:prstGeom>
          <a:noFill/>
          <a:ln/>
        </p:spPr>
        <p:txBody>
          <a:bodyPr wrap="square" lIns="0" tIns="0" rIns="0" bIns="0" rtlCol="0" anchor="ctr"/>
          <a:lstStyle/>
          <a:p>
            <a:pPr algn="r" indent="0" marL="0">
              <a:buNone/>
            </a:pPr>
            <a:r>
              <a:rPr lang="en-US" sz="1000" b="1" spc="100" kern="0" dirty="0">
                <a:solidFill>
                  <a:srgbClr val="004A98"/>
                </a:solidFill>
                <a:latin typeface="Arial" pitchFamily="34" charset="0"/>
                <a:ea typeface="Arial" pitchFamily="34" charset="-122"/>
                <a:cs typeface="Arial" pitchFamily="34" charset="-120"/>
              </a:rPr>
              <a:t>TECHNICAL BUILD PLAN</a:t>
            </a:r>
            <a:endParaRPr lang="en-US" sz="1000" dirty="0"/>
          </a:p>
        </p:txBody>
      </p:sp>
      <p:sp>
        <p:nvSpPr>
          <p:cNvPr id="8" name="Text 6"/>
          <p:cNvSpPr/>
          <p:nvPr/>
        </p:nvSpPr>
        <p:spPr>
          <a:xfrm>
            <a:off x="457200" y="658368"/>
            <a:ext cx="11277295" cy="868680"/>
          </a:xfrm>
          <a:prstGeom prst="rect">
            <a:avLst/>
          </a:prstGeom>
          <a:noFill/>
          <a:ln/>
        </p:spPr>
        <p:txBody>
          <a:bodyPr wrap="square" lIns="0" tIns="0" rIns="0" bIns="0" rtlCol="0" anchor="ctr"/>
          <a:lstStyle/>
          <a:p>
            <a:pPr algn="l" indent="0" marL="0">
              <a:buNone/>
            </a:pPr>
            <a:r>
              <a:rPr lang="en-US" sz="3100" b="1" dirty="0">
                <a:solidFill>
                  <a:srgbClr val="15223B"/>
                </a:solidFill>
                <a:latin typeface="Arial" pitchFamily="34" charset="0"/>
                <a:ea typeface="Arial" pitchFamily="34" charset="-122"/>
                <a:cs typeface="Arial" pitchFamily="34" charset="-120"/>
              </a:rPr>
              <a:t>How we'll build it</a:t>
            </a:r>
            <a:endParaRPr lang="en-US" sz="3100" dirty="0"/>
          </a:p>
        </p:txBody>
      </p:sp>
      <p:sp>
        <p:nvSpPr>
          <p:cNvPr id="9" name="Shape 7"/>
          <p:cNvSpPr/>
          <p:nvPr/>
        </p:nvSpPr>
        <p:spPr>
          <a:xfrm>
            <a:off x="457200" y="1572768"/>
            <a:ext cx="11277295" cy="0"/>
          </a:xfrm>
          <a:prstGeom prst="line">
            <a:avLst/>
          </a:prstGeom>
          <a:noFill/>
          <a:ln w="12700">
            <a:solidFill>
              <a:srgbClr val="DCE6F2"/>
            </a:solidFill>
            <a:prstDash val="solid"/>
          </a:ln>
        </p:spPr>
      </p:sp>
      <p:sp>
        <p:nvSpPr>
          <p:cNvPr id="10" name="Shape 8"/>
          <p:cNvSpPr/>
          <p:nvPr/>
        </p:nvSpPr>
        <p:spPr>
          <a:xfrm>
            <a:off x="0" y="6711696"/>
            <a:ext cx="12191695" cy="146304"/>
          </a:xfrm>
          <a:prstGeom prst="rect">
            <a:avLst/>
          </a:prstGeom>
          <a:solidFill>
            <a:srgbClr val="F58220"/>
          </a:solidFill>
          <a:ln/>
        </p:spPr>
      </p:sp>
      <p:sp>
        <p:nvSpPr>
          <p:cNvPr id="11" name="Text 9"/>
          <p:cNvSpPr/>
          <p:nvPr/>
        </p:nvSpPr>
        <p:spPr>
          <a:xfrm>
            <a:off x="11368735" y="6291072"/>
            <a:ext cx="457200" cy="274320"/>
          </a:xfrm>
          <a:prstGeom prst="rect">
            <a:avLst/>
          </a:prstGeom>
          <a:noFill/>
          <a:ln/>
        </p:spPr>
        <p:txBody>
          <a:bodyPr wrap="square" lIns="0" tIns="0" rIns="0" bIns="0" rtlCol="0" anchor="ctr"/>
          <a:lstStyle/>
          <a:p>
            <a:pPr algn="r" indent="0" marL="0">
              <a:buNone/>
            </a:pPr>
            <a:r>
              <a:rPr lang="en-US" sz="1100" dirty="0">
                <a:solidFill>
                  <a:srgbClr val="7A879A"/>
                </a:solidFill>
                <a:latin typeface="Arial" pitchFamily="34" charset="0"/>
                <a:ea typeface="Arial" pitchFamily="34" charset="-122"/>
                <a:cs typeface="Arial" pitchFamily="34" charset="-120"/>
              </a:rPr>
              <a:t>5</a:t>
            </a:r>
            <a:endParaRPr lang="en-US" sz="1100" dirty="0"/>
          </a:p>
        </p:txBody>
      </p:sp>
      <p:sp>
        <p:nvSpPr>
          <p:cNvPr id="12" name="Shape 10"/>
          <p:cNvSpPr/>
          <p:nvPr/>
        </p:nvSpPr>
        <p:spPr>
          <a:xfrm>
            <a:off x="457200" y="1920240"/>
            <a:ext cx="2050633" cy="3154680"/>
          </a:xfrm>
          <a:prstGeom prst="roundRect">
            <a:avLst>
              <a:gd name="adj" fmla="val 4013"/>
            </a:avLst>
          </a:prstGeom>
          <a:solidFill>
            <a:srgbClr val="F7FBFF"/>
          </a:solidFill>
          <a:ln w="12700">
            <a:solidFill>
              <a:srgbClr val="B8D3EF"/>
            </a:solidFill>
            <a:prstDash val="solid"/>
          </a:ln>
          <a:effectLst>
            <a:outerShdw sx="100000" sy="100000" kx="0" ky="0" algn="bl" rotWithShape="0" blurRad="88900" dist="38100" dir="5400000">
              <a:srgbClr val="9FB3CC">
                <a:alpha val="28000"/>
              </a:srgbClr>
            </a:outerShdw>
          </a:effectLst>
        </p:spPr>
      </p:sp>
      <p:sp>
        <p:nvSpPr>
          <p:cNvPr id="13" name="Shape 11"/>
          <p:cNvSpPr/>
          <p:nvPr/>
        </p:nvSpPr>
        <p:spPr>
          <a:xfrm>
            <a:off x="731520" y="2212848"/>
            <a:ext cx="640080" cy="384048"/>
          </a:xfrm>
          <a:prstGeom prst="roundRect">
            <a:avLst>
              <a:gd name="adj" fmla="val 50000"/>
            </a:avLst>
          </a:prstGeom>
          <a:solidFill>
            <a:srgbClr val="15223B"/>
          </a:solidFill>
          <a:ln/>
        </p:spPr>
      </p:sp>
      <p:sp>
        <p:nvSpPr>
          <p:cNvPr id="14" name="Text 12"/>
          <p:cNvSpPr/>
          <p:nvPr/>
        </p:nvSpPr>
        <p:spPr>
          <a:xfrm>
            <a:off x="731520" y="2212848"/>
            <a:ext cx="64008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P1</a:t>
            </a:r>
            <a:endParaRPr lang="en-US" sz="1200" dirty="0"/>
          </a:p>
        </p:txBody>
      </p:sp>
      <p:sp>
        <p:nvSpPr>
          <p:cNvPr id="15" name="Text 13"/>
          <p:cNvSpPr/>
          <p:nvPr/>
        </p:nvSpPr>
        <p:spPr>
          <a:xfrm>
            <a:off x="731520" y="2761488"/>
            <a:ext cx="1547713" cy="868680"/>
          </a:xfrm>
          <a:prstGeom prst="rect">
            <a:avLst/>
          </a:prstGeom>
          <a:noFill/>
          <a:ln/>
        </p:spPr>
        <p:txBody>
          <a:bodyPr wrap="square" lIns="0" tIns="0" rIns="0" bIns="0" rtlCol="0" anchor="t"/>
          <a:lstStyle/>
          <a:p>
            <a:pPr algn="l" indent="0" marL="0">
              <a:lnSpc>
                <a:spcPct val="98000"/>
              </a:lnSpc>
              <a:buNone/>
            </a:pPr>
            <a:r>
              <a:rPr lang="en-US" sz="1600" b="1" dirty="0">
                <a:solidFill>
                  <a:srgbClr val="15223B"/>
                </a:solidFill>
                <a:latin typeface="Arial" pitchFamily="34" charset="0"/>
                <a:ea typeface="Arial" pitchFamily="34" charset="-122"/>
                <a:cs typeface="Arial" pitchFamily="34" charset="-120"/>
              </a:rPr>
              <a:t>Connect</a:t>
            </a:r>
            <a:endParaRPr lang="en-US" sz="1600" dirty="0"/>
          </a:p>
          <a:p>
            <a:pPr algn="l" indent="0" marL="0">
              <a:lnSpc>
                <a:spcPct val="98000"/>
              </a:lnSpc>
              <a:buNone/>
            </a:pPr>
            <a:r>
              <a:rPr lang="en-US" sz="1600" b="1" dirty="0">
                <a:solidFill>
                  <a:srgbClr val="15223B"/>
                </a:solidFill>
                <a:latin typeface="Arial" pitchFamily="34" charset="0"/>
                <a:ea typeface="Arial" pitchFamily="34" charset="-122"/>
                <a:cs typeface="Arial" pitchFamily="34" charset="-120"/>
              </a:rPr>
              <a:t>Sources</a:t>
            </a:r>
            <a:endParaRPr lang="en-US" sz="1600" dirty="0"/>
          </a:p>
        </p:txBody>
      </p:sp>
      <p:sp>
        <p:nvSpPr>
          <p:cNvPr id="16" name="Text 14"/>
          <p:cNvSpPr/>
          <p:nvPr/>
        </p:nvSpPr>
        <p:spPr>
          <a:xfrm>
            <a:off x="731520" y="3611880"/>
            <a:ext cx="1547713" cy="1325880"/>
          </a:xfrm>
          <a:prstGeom prst="rect">
            <a:avLst/>
          </a:prstGeom>
          <a:noFill/>
          <a:ln/>
        </p:spPr>
        <p:txBody>
          <a:bodyPr wrap="square" lIns="0" tIns="0" rIns="0" bIns="0" rtlCol="0" anchor="t"/>
          <a:lstStyle/>
          <a:p>
            <a:pPr algn="l" indent="0" marL="0">
              <a:lnSpc>
                <a:spcPct val="115000"/>
              </a:lnSpc>
              <a:buNone/>
            </a:pPr>
            <a:r>
              <a:rPr lang="en-US" sz="1200" dirty="0">
                <a:solidFill>
                  <a:srgbClr val="5B677A"/>
                </a:solidFill>
                <a:latin typeface="Arial" pitchFamily="34" charset="0"/>
                <a:ea typeface="Arial" pitchFamily="34" charset="-122"/>
                <a:cs typeface="Arial" pitchFamily="34" charset="-120"/>
              </a:rPr>
              <a:t>Wire up Quest access, news + web search APIs, and Google Lens image lookup.</a:t>
            </a:r>
            <a:endParaRPr lang="en-US" sz="1200" dirty="0"/>
          </a:p>
        </p:txBody>
      </p:sp>
      <p:sp>
        <p:nvSpPr>
          <p:cNvPr id="17" name="Shape 15"/>
          <p:cNvSpPr/>
          <p:nvPr/>
        </p:nvSpPr>
        <p:spPr>
          <a:xfrm>
            <a:off x="2763865" y="1920240"/>
            <a:ext cx="2050633" cy="3154680"/>
          </a:xfrm>
          <a:prstGeom prst="roundRect">
            <a:avLst>
              <a:gd name="adj" fmla="val 4013"/>
            </a:avLst>
          </a:prstGeom>
          <a:solidFill>
            <a:srgbClr val="FFF1E5"/>
          </a:solidFill>
          <a:ln w="12700">
            <a:solidFill>
              <a:srgbClr val="FFD5B5"/>
            </a:solidFill>
            <a:prstDash val="solid"/>
          </a:ln>
          <a:effectLst>
            <a:outerShdw sx="100000" sy="100000" kx="0" ky="0" algn="bl" rotWithShape="0" blurRad="88900" dist="38100" dir="5400000">
              <a:srgbClr val="9FB3CC">
                <a:alpha val="28000"/>
              </a:srgbClr>
            </a:outerShdw>
          </a:effectLst>
        </p:spPr>
      </p:sp>
      <p:sp>
        <p:nvSpPr>
          <p:cNvPr id="18" name="Shape 16"/>
          <p:cNvSpPr/>
          <p:nvPr/>
        </p:nvSpPr>
        <p:spPr>
          <a:xfrm>
            <a:off x="3038185" y="2212848"/>
            <a:ext cx="640080" cy="384048"/>
          </a:xfrm>
          <a:prstGeom prst="roundRect">
            <a:avLst>
              <a:gd name="adj" fmla="val 50000"/>
            </a:avLst>
          </a:prstGeom>
          <a:solidFill>
            <a:srgbClr val="F58220"/>
          </a:solidFill>
          <a:ln/>
        </p:spPr>
      </p:sp>
      <p:sp>
        <p:nvSpPr>
          <p:cNvPr id="19" name="Text 17"/>
          <p:cNvSpPr/>
          <p:nvPr/>
        </p:nvSpPr>
        <p:spPr>
          <a:xfrm>
            <a:off x="3038185" y="2212848"/>
            <a:ext cx="64008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P2</a:t>
            </a:r>
            <a:endParaRPr lang="en-US" sz="1200" dirty="0"/>
          </a:p>
        </p:txBody>
      </p:sp>
      <p:sp>
        <p:nvSpPr>
          <p:cNvPr id="20" name="Text 18"/>
          <p:cNvSpPr/>
          <p:nvPr/>
        </p:nvSpPr>
        <p:spPr>
          <a:xfrm>
            <a:off x="3038185" y="2761488"/>
            <a:ext cx="1547713" cy="868680"/>
          </a:xfrm>
          <a:prstGeom prst="rect">
            <a:avLst/>
          </a:prstGeom>
          <a:noFill/>
          <a:ln/>
        </p:spPr>
        <p:txBody>
          <a:bodyPr wrap="square" lIns="0" tIns="0" rIns="0" bIns="0" rtlCol="0" anchor="t"/>
          <a:lstStyle/>
          <a:p>
            <a:pPr algn="l" indent="0" marL="0">
              <a:lnSpc>
                <a:spcPct val="98000"/>
              </a:lnSpc>
              <a:buNone/>
            </a:pPr>
            <a:r>
              <a:rPr lang="en-US" sz="1600" b="1" dirty="0">
                <a:solidFill>
                  <a:srgbClr val="15223B"/>
                </a:solidFill>
                <a:latin typeface="Arial" pitchFamily="34" charset="0"/>
                <a:ea typeface="Arial" pitchFamily="34" charset="-122"/>
                <a:cs typeface="Arial" pitchFamily="34" charset="-120"/>
              </a:rPr>
              <a:t>Search &amp;</a:t>
            </a:r>
            <a:endParaRPr lang="en-US" sz="1600" dirty="0"/>
          </a:p>
          <a:p>
            <a:pPr algn="l" indent="0" marL="0">
              <a:lnSpc>
                <a:spcPct val="98000"/>
              </a:lnSpc>
              <a:buNone/>
            </a:pPr>
            <a:r>
              <a:rPr lang="en-US" sz="1600" b="1" dirty="0">
                <a:solidFill>
                  <a:srgbClr val="15223B"/>
                </a:solidFill>
                <a:latin typeface="Arial" pitchFamily="34" charset="0"/>
                <a:ea typeface="Arial" pitchFamily="34" charset="-122"/>
                <a:cs typeface="Arial" pitchFamily="34" charset="-120"/>
              </a:rPr>
              <a:t>Dedupe</a:t>
            </a:r>
            <a:endParaRPr lang="en-US" sz="1600" dirty="0"/>
          </a:p>
        </p:txBody>
      </p:sp>
      <p:sp>
        <p:nvSpPr>
          <p:cNvPr id="21" name="Text 19"/>
          <p:cNvSpPr/>
          <p:nvPr/>
        </p:nvSpPr>
        <p:spPr>
          <a:xfrm>
            <a:off x="3038185" y="3611880"/>
            <a:ext cx="1547713" cy="1325880"/>
          </a:xfrm>
          <a:prstGeom prst="rect">
            <a:avLst/>
          </a:prstGeom>
          <a:noFill/>
          <a:ln/>
        </p:spPr>
        <p:txBody>
          <a:bodyPr wrap="square" lIns="0" tIns="0" rIns="0" bIns="0" rtlCol="0" anchor="t"/>
          <a:lstStyle/>
          <a:p>
            <a:pPr algn="l" indent="0" marL="0">
              <a:lnSpc>
                <a:spcPct val="115000"/>
              </a:lnSpc>
              <a:buNone/>
            </a:pPr>
            <a:r>
              <a:rPr lang="en-US" sz="1200" dirty="0">
                <a:solidFill>
                  <a:srgbClr val="5B677A"/>
                </a:solidFill>
                <a:latin typeface="Arial" pitchFamily="34" charset="0"/>
                <a:ea typeface="Arial" pitchFamily="34" charset="-122"/>
                <a:cs typeface="Arial" pitchFamily="34" charset="-120"/>
              </a:rPr>
              <a:t>Build the query builder, fan out to all sources, and remove duplicate URLs.</a:t>
            </a:r>
            <a:endParaRPr lang="en-US" sz="1200" dirty="0"/>
          </a:p>
        </p:txBody>
      </p:sp>
      <p:sp>
        <p:nvSpPr>
          <p:cNvPr id="22" name="Shape 20"/>
          <p:cNvSpPr/>
          <p:nvPr/>
        </p:nvSpPr>
        <p:spPr>
          <a:xfrm>
            <a:off x="5070531" y="1920240"/>
            <a:ext cx="2050633" cy="3154680"/>
          </a:xfrm>
          <a:prstGeom prst="roundRect">
            <a:avLst>
              <a:gd name="adj" fmla="val 4013"/>
            </a:avLst>
          </a:prstGeom>
          <a:solidFill>
            <a:srgbClr val="F7FBFF"/>
          </a:solidFill>
          <a:ln w="12700">
            <a:solidFill>
              <a:srgbClr val="B8D3EF"/>
            </a:solidFill>
            <a:prstDash val="solid"/>
          </a:ln>
          <a:effectLst>
            <a:outerShdw sx="100000" sy="100000" kx="0" ky="0" algn="bl" rotWithShape="0" blurRad="88900" dist="38100" dir="5400000">
              <a:srgbClr val="9FB3CC">
                <a:alpha val="28000"/>
              </a:srgbClr>
            </a:outerShdw>
          </a:effectLst>
        </p:spPr>
      </p:sp>
      <p:sp>
        <p:nvSpPr>
          <p:cNvPr id="23" name="Shape 21"/>
          <p:cNvSpPr/>
          <p:nvPr/>
        </p:nvSpPr>
        <p:spPr>
          <a:xfrm>
            <a:off x="5344851" y="2212848"/>
            <a:ext cx="640080" cy="384048"/>
          </a:xfrm>
          <a:prstGeom prst="roundRect">
            <a:avLst>
              <a:gd name="adj" fmla="val 50000"/>
            </a:avLst>
          </a:prstGeom>
          <a:solidFill>
            <a:srgbClr val="15223B"/>
          </a:solidFill>
          <a:ln/>
        </p:spPr>
      </p:sp>
      <p:sp>
        <p:nvSpPr>
          <p:cNvPr id="24" name="Text 22"/>
          <p:cNvSpPr/>
          <p:nvPr/>
        </p:nvSpPr>
        <p:spPr>
          <a:xfrm>
            <a:off x="5344851" y="2212848"/>
            <a:ext cx="64008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P3</a:t>
            </a:r>
            <a:endParaRPr lang="en-US" sz="1200" dirty="0"/>
          </a:p>
        </p:txBody>
      </p:sp>
      <p:sp>
        <p:nvSpPr>
          <p:cNvPr id="25" name="Text 23"/>
          <p:cNvSpPr/>
          <p:nvPr/>
        </p:nvSpPr>
        <p:spPr>
          <a:xfrm>
            <a:off x="5344851" y="2761488"/>
            <a:ext cx="1547713" cy="868680"/>
          </a:xfrm>
          <a:prstGeom prst="rect">
            <a:avLst/>
          </a:prstGeom>
          <a:noFill/>
          <a:ln/>
        </p:spPr>
        <p:txBody>
          <a:bodyPr wrap="square" lIns="0" tIns="0" rIns="0" bIns="0" rtlCol="0" anchor="t"/>
          <a:lstStyle/>
          <a:p>
            <a:pPr algn="l" indent="0" marL="0">
              <a:lnSpc>
                <a:spcPct val="98000"/>
              </a:lnSpc>
              <a:buNone/>
            </a:pPr>
            <a:r>
              <a:rPr lang="en-US" sz="1600" b="1" dirty="0">
                <a:solidFill>
                  <a:srgbClr val="15223B"/>
                </a:solidFill>
                <a:latin typeface="Arial" pitchFamily="34" charset="0"/>
                <a:ea typeface="Arial" pitchFamily="34" charset="-122"/>
                <a:cs typeface="Arial" pitchFamily="34" charset="-120"/>
              </a:rPr>
              <a:t>Rank</a:t>
            </a:r>
            <a:endParaRPr lang="en-US" sz="1600" dirty="0"/>
          </a:p>
          <a:p>
            <a:pPr algn="l" indent="0" marL="0">
              <a:lnSpc>
                <a:spcPct val="98000"/>
              </a:lnSpc>
              <a:buNone/>
            </a:pPr>
            <a:r>
              <a:rPr lang="en-US" sz="1600" b="1" dirty="0">
                <a:solidFill>
                  <a:srgbClr val="15223B"/>
                </a:solidFill>
                <a:latin typeface="Arial" pitchFamily="34" charset="0"/>
                <a:ea typeface="Arial" pitchFamily="34" charset="-122"/>
                <a:cs typeface="Arial" pitchFamily="34" charset="-120"/>
              </a:rPr>
              <a:t>Engine</a:t>
            </a:r>
            <a:endParaRPr lang="en-US" sz="1600" dirty="0"/>
          </a:p>
        </p:txBody>
      </p:sp>
      <p:sp>
        <p:nvSpPr>
          <p:cNvPr id="26" name="Text 24"/>
          <p:cNvSpPr/>
          <p:nvPr/>
        </p:nvSpPr>
        <p:spPr>
          <a:xfrm>
            <a:off x="5344851" y="3611880"/>
            <a:ext cx="1547713" cy="1325880"/>
          </a:xfrm>
          <a:prstGeom prst="rect">
            <a:avLst/>
          </a:prstGeom>
          <a:noFill/>
          <a:ln/>
        </p:spPr>
        <p:txBody>
          <a:bodyPr wrap="square" lIns="0" tIns="0" rIns="0" bIns="0" rtlCol="0" anchor="t"/>
          <a:lstStyle/>
          <a:p>
            <a:pPr algn="l" indent="0" marL="0">
              <a:lnSpc>
                <a:spcPct val="115000"/>
              </a:lnSpc>
              <a:buNone/>
            </a:pPr>
            <a:r>
              <a:rPr lang="en-US" sz="1200" dirty="0">
                <a:solidFill>
                  <a:srgbClr val="5B677A"/>
                </a:solidFill>
                <a:latin typeface="Arial" pitchFamily="34" charset="0"/>
                <a:ea typeface="Arial" pitchFamily="34" charset="-122"/>
                <a:cs typeface="Arial" pitchFamily="34" charset="-120"/>
              </a:rPr>
              <a:t>Score each result against the claim and pick the top 10 most relevant links.</a:t>
            </a:r>
            <a:endParaRPr lang="en-US" sz="1200" dirty="0"/>
          </a:p>
        </p:txBody>
      </p:sp>
      <p:sp>
        <p:nvSpPr>
          <p:cNvPr id="27" name="Shape 25"/>
          <p:cNvSpPr/>
          <p:nvPr/>
        </p:nvSpPr>
        <p:spPr>
          <a:xfrm>
            <a:off x="7377196" y="1920240"/>
            <a:ext cx="2050633" cy="3154680"/>
          </a:xfrm>
          <a:prstGeom prst="roundRect">
            <a:avLst>
              <a:gd name="adj" fmla="val 4013"/>
            </a:avLst>
          </a:prstGeom>
          <a:solidFill>
            <a:srgbClr val="FFF1E5"/>
          </a:solidFill>
          <a:ln w="12700">
            <a:solidFill>
              <a:srgbClr val="FFD5B5"/>
            </a:solidFill>
            <a:prstDash val="solid"/>
          </a:ln>
          <a:effectLst>
            <a:outerShdw sx="100000" sy="100000" kx="0" ky="0" algn="bl" rotWithShape="0" blurRad="88900" dist="38100" dir="5400000">
              <a:srgbClr val="9FB3CC">
                <a:alpha val="28000"/>
              </a:srgbClr>
            </a:outerShdw>
          </a:effectLst>
        </p:spPr>
      </p:sp>
      <p:sp>
        <p:nvSpPr>
          <p:cNvPr id="28" name="Shape 26"/>
          <p:cNvSpPr/>
          <p:nvPr/>
        </p:nvSpPr>
        <p:spPr>
          <a:xfrm>
            <a:off x="7651516" y="2212848"/>
            <a:ext cx="640080" cy="384048"/>
          </a:xfrm>
          <a:prstGeom prst="roundRect">
            <a:avLst>
              <a:gd name="adj" fmla="val 50000"/>
            </a:avLst>
          </a:prstGeom>
          <a:solidFill>
            <a:srgbClr val="F58220"/>
          </a:solidFill>
          <a:ln/>
        </p:spPr>
      </p:sp>
      <p:sp>
        <p:nvSpPr>
          <p:cNvPr id="29" name="Text 27"/>
          <p:cNvSpPr/>
          <p:nvPr/>
        </p:nvSpPr>
        <p:spPr>
          <a:xfrm>
            <a:off x="7651516" y="2212848"/>
            <a:ext cx="64008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P4</a:t>
            </a:r>
            <a:endParaRPr lang="en-US" sz="1200" dirty="0"/>
          </a:p>
        </p:txBody>
      </p:sp>
      <p:sp>
        <p:nvSpPr>
          <p:cNvPr id="30" name="Text 28"/>
          <p:cNvSpPr/>
          <p:nvPr/>
        </p:nvSpPr>
        <p:spPr>
          <a:xfrm>
            <a:off x="7651516" y="2761488"/>
            <a:ext cx="1547713" cy="868680"/>
          </a:xfrm>
          <a:prstGeom prst="rect">
            <a:avLst/>
          </a:prstGeom>
          <a:noFill/>
          <a:ln/>
        </p:spPr>
        <p:txBody>
          <a:bodyPr wrap="square" lIns="0" tIns="0" rIns="0" bIns="0" rtlCol="0" anchor="t"/>
          <a:lstStyle/>
          <a:p>
            <a:pPr algn="l" indent="0" marL="0">
              <a:lnSpc>
                <a:spcPct val="98000"/>
              </a:lnSpc>
              <a:buNone/>
            </a:pPr>
            <a:r>
              <a:rPr lang="en-US" sz="1600" b="1" dirty="0">
                <a:solidFill>
                  <a:srgbClr val="15223B"/>
                </a:solidFill>
                <a:latin typeface="Arial" pitchFamily="34" charset="0"/>
                <a:ea typeface="Arial" pitchFamily="34" charset="-122"/>
                <a:cs typeface="Arial" pitchFamily="34" charset="-120"/>
              </a:rPr>
              <a:t>Dashboard</a:t>
            </a:r>
            <a:endParaRPr lang="en-US" sz="1600" dirty="0"/>
          </a:p>
          <a:p>
            <a:pPr algn="l" indent="0" marL="0">
              <a:lnSpc>
                <a:spcPct val="98000"/>
              </a:lnSpc>
              <a:buNone/>
            </a:pPr>
            <a:r>
              <a:rPr lang="en-US" sz="1600" b="1" dirty="0">
                <a:solidFill>
                  <a:srgbClr val="15223B"/>
                </a:solidFill>
                <a:latin typeface="Arial" pitchFamily="34" charset="0"/>
                <a:ea typeface="Arial" pitchFamily="34" charset="-122"/>
                <a:cs typeface="Arial" pitchFamily="34" charset="-120"/>
              </a:rPr>
              <a:t>UI</a:t>
            </a:r>
            <a:endParaRPr lang="en-US" sz="1600" dirty="0"/>
          </a:p>
        </p:txBody>
      </p:sp>
      <p:sp>
        <p:nvSpPr>
          <p:cNvPr id="31" name="Text 29"/>
          <p:cNvSpPr/>
          <p:nvPr/>
        </p:nvSpPr>
        <p:spPr>
          <a:xfrm>
            <a:off x="7651516" y="3611880"/>
            <a:ext cx="1547713" cy="1325880"/>
          </a:xfrm>
          <a:prstGeom prst="rect">
            <a:avLst/>
          </a:prstGeom>
          <a:noFill/>
          <a:ln/>
        </p:spPr>
        <p:txBody>
          <a:bodyPr wrap="square" lIns="0" tIns="0" rIns="0" bIns="0" rtlCol="0" anchor="t"/>
          <a:lstStyle/>
          <a:p>
            <a:pPr algn="l" indent="0" marL="0">
              <a:lnSpc>
                <a:spcPct val="115000"/>
              </a:lnSpc>
              <a:buNone/>
            </a:pPr>
            <a:r>
              <a:rPr lang="en-US" sz="1200" dirty="0">
                <a:solidFill>
                  <a:srgbClr val="5B677A"/>
                </a:solidFill>
                <a:latin typeface="Arial" pitchFamily="34" charset="0"/>
                <a:ea typeface="Arial" pitchFamily="34" charset="-122"/>
                <a:cs typeface="Arial" pitchFamily="34" charset="-120"/>
              </a:rPr>
              <a:t>Build the complaint screen: ranked links, source tags, and the image-match panel.</a:t>
            </a:r>
            <a:endParaRPr lang="en-US" sz="1200" dirty="0"/>
          </a:p>
        </p:txBody>
      </p:sp>
      <p:sp>
        <p:nvSpPr>
          <p:cNvPr id="32" name="Shape 30"/>
          <p:cNvSpPr/>
          <p:nvPr/>
        </p:nvSpPr>
        <p:spPr>
          <a:xfrm>
            <a:off x="9683862" y="1920240"/>
            <a:ext cx="2050633" cy="3154680"/>
          </a:xfrm>
          <a:prstGeom prst="roundRect">
            <a:avLst>
              <a:gd name="adj" fmla="val 4013"/>
            </a:avLst>
          </a:prstGeom>
          <a:solidFill>
            <a:srgbClr val="F7FBFF"/>
          </a:solidFill>
          <a:ln w="12700">
            <a:solidFill>
              <a:srgbClr val="B8D3EF"/>
            </a:solidFill>
            <a:prstDash val="solid"/>
          </a:ln>
          <a:effectLst>
            <a:outerShdw sx="100000" sy="100000" kx="0" ky="0" algn="bl" rotWithShape="0" blurRad="88900" dist="38100" dir="5400000">
              <a:srgbClr val="9FB3CC">
                <a:alpha val="28000"/>
              </a:srgbClr>
            </a:outerShdw>
          </a:effectLst>
        </p:spPr>
      </p:sp>
      <p:sp>
        <p:nvSpPr>
          <p:cNvPr id="33" name="Shape 31"/>
          <p:cNvSpPr/>
          <p:nvPr/>
        </p:nvSpPr>
        <p:spPr>
          <a:xfrm>
            <a:off x="9958182" y="2212848"/>
            <a:ext cx="640080" cy="384048"/>
          </a:xfrm>
          <a:prstGeom prst="roundRect">
            <a:avLst>
              <a:gd name="adj" fmla="val 50000"/>
            </a:avLst>
          </a:prstGeom>
          <a:solidFill>
            <a:srgbClr val="15223B"/>
          </a:solidFill>
          <a:ln/>
        </p:spPr>
      </p:sp>
      <p:sp>
        <p:nvSpPr>
          <p:cNvPr id="34" name="Text 32"/>
          <p:cNvSpPr/>
          <p:nvPr/>
        </p:nvSpPr>
        <p:spPr>
          <a:xfrm>
            <a:off x="9958182" y="2212848"/>
            <a:ext cx="64008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P5</a:t>
            </a:r>
            <a:endParaRPr lang="en-US" sz="1200" dirty="0"/>
          </a:p>
        </p:txBody>
      </p:sp>
      <p:sp>
        <p:nvSpPr>
          <p:cNvPr id="35" name="Text 33"/>
          <p:cNvSpPr/>
          <p:nvPr/>
        </p:nvSpPr>
        <p:spPr>
          <a:xfrm>
            <a:off x="9958182" y="2761488"/>
            <a:ext cx="1547713" cy="868680"/>
          </a:xfrm>
          <a:prstGeom prst="rect">
            <a:avLst/>
          </a:prstGeom>
          <a:noFill/>
          <a:ln/>
        </p:spPr>
        <p:txBody>
          <a:bodyPr wrap="square" lIns="0" tIns="0" rIns="0" bIns="0" rtlCol="0" anchor="t"/>
          <a:lstStyle/>
          <a:p>
            <a:pPr algn="l" indent="0" marL="0">
              <a:lnSpc>
                <a:spcPct val="98000"/>
              </a:lnSpc>
              <a:buNone/>
            </a:pPr>
            <a:r>
              <a:rPr lang="en-US" sz="1600" b="1" dirty="0">
                <a:solidFill>
                  <a:srgbClr val="15223B"/>
                </a:solidFill>
                <a:latin typeface="Arial" pitchFamily="34" charset="0"/>
                <a:ea typeface="Arial" pitchFamily="34" charset="-122"/>
                <a:cs typeface="Arial" pitchFamily="34" charset="-120"/>
              </a:rPr>
              <a:t>UAT &amp;</a:t>
            </a:r>
            <a:endParaRPr lang="en-US" sz="1600" dirty="0"/>
          </a:p>
          <a:p>
            <a:pPr algn="l" indent="0" marL="0">
              <a:lnSpc>
                <a:spcPct val="98000"/>
              </a:lnSpc>
              <a:buNone/>
            </a:pPr>
            <a:r>
              <a:rPr lang="en-US" sz="1600" b="1" dirty="0">
                <a:solidFill>
                  <a:srgbClr val="15223B"/>
                </a:solidFill>
                <a:latin typeface="Arial" pitchFamily="34" charset="0"/>
                <a:ea typeface="Arial" pitchFamily="34" charset="-122"/>
                <a:cs typeface="Arial" pitchFamily="34" charset="-120"/>
              </a:rPr>
              <a:t>Handover</a:t>
            </a:r>
            <a:endParaRPr lang="en-US" sz="1600" dirty="0"/>
          </a:p>
        </p:txBody>
      </p:sp>
      <p:sp>
        <p:nvSpPr>
          <p:cNvPr id="36" name="Text 34"/>
          <p:cNvSpPr/>
          <p:nvPr/>
        </p:nvSpPr>
        <p:spPr>
          <a:xfrm>
            <a:off x="9958182" y="3611880"/>
            <a:ext cx="1547713" cy="1325880"/>
          </a:xfrm>
          <a:prstGeom prst="rect">
            <a:avLst/>
          </a:prstGeom>
          <a:noFill/>
          <a:ln/>
        </p:spPr>
        <p:txBody>
          <a:bodyPr wrap="square" lIns="0" tIns="0" rIns="0" bIns="0" rtlCol="0" anchor="t"/>
          <a:lstStyle/>
          <a:p>
            <a:pPr algn="l" indent="0" marL="0">
              <a:lnSpc>
                <a:spcPct val="115000"/>
              </a:lnSpc>
              <a:buNone/>
            </a:pPr>
            <a:r>
              <a:rPr lang="en-US" sz="1200" dirty="0">
                <a:solidFill>
                  <a:srgbClr val="5B677A"/>
                </a:solidFill>
                <a:latin typeface="Arial" pitchFamily="34" charset="0"/>
                <a:ea typeface="Arial" pitchFamily="34" charset="-122"/>
                <a:cs typeface="Arial" pitchFamily="34" charset="-120"/>
              </a:rPr>
              <a:t>Test on real complaints, calibrate ranking, then deploy and hand over.</a:t>
            </a:r>
            <a:endParaRPr lang="en-US" sz="1200" dirty="0"/>
          </a:p>
        </p:txBody>
      </p:sp>
      <p:sp>
        <p:nvSpPr>
          <p:cNvPr id="37" name="Shape 35"/>
          <p:cNvSpPr/>
          <p:nvPr/>
        </p:nvSpPr>
        <p:spPr>
          <a:xfrm>
            <a:off x="457200" y="5285232"/>
            <a:ext cx="11277295" cy="841248"/>
          </a:xfrm>
          <a:prstGeom prst="roundRect">
            <a:avLst>
              <a:gd name="adj" fmla="val 9783"/>
            </a:avLst>
          </a:prstGeom>
          <a:solidFill>
            <a:srgbClr val="15223B"/>
          </a:solidFill>
          <a:ln/>
          <a:effectLst>
            <a:outerShdw sx="100000" sy="100000" kx="0" ky="0" algn="bl" rotWithShape="0" blurRad="88900" dist="38100" dir="16200000">
              <a:srgbClr val="9FB3CC">
                <a:alpha val="22000"/>
              </a:srgbClr>
            </a:outerShdw>
          </a:effectLst>
        </p:spPr>
      </p:sp>
      <p:sp>
        <p:nvSpPr>
          <p:cNvPr id="38" name="Text 36"/>
          <p:cNvSpPr/>
          <p:nvPr/>
        </p:nvSpPr>
        <p:spPr>
          <a:xfrm>
            <a:off x="822960" y="5285232"/>
            <a:ext cx="10545775" cy="841248"/>
          </a:xfrm>
          <a:prstGeom prst="rect">
            <a:avLst/>
          </a:prstGeom>
          <a:noFill/>
          <a:ln/>
        </p:spPr>
        <p:txBody>
          <a:bodyPr wrap="square" lIns="0" tIns="0" rIns="0" bIns="0" rtlCol="0" anchor="ctr"/>
          <a:lstStyle/>
          <a:p>
            <a:pPr algn="l" indent="0" marL="0">
              <a:lnSpc>
                <a:spcPct val="110000"/>
              </a:lnSpc>
              <a:buNone/>
            </a:pPr>
            <a:r>
              <a:rPr lang="en-US" sz="1350" b="1" dirty="0">
                <a:solidFill>
                  <a:srgbClr val="F58220"/>
                </a:solidFill>
                <a:latin typeface="Arial" pitchFamily="34" charset="0"/>
                <a:ea typeface="Arial" pitchFamily="34" charset="-122"/>
                <a:cs typeface="Arial" pitchFamily="34" charset="-120"/>
              </a:rPr>
              <a:t>Done looks like:  </a:t>
            </a:r>
            <a:pPr algn="l" indent="0" marL="0">
              <a:lnSpc>
                <a:spcPct val="110000"/>
              </a:lnSpc>
              <a:buNone/>
            </a:pPr>
            <a:r>
              <a:rPr lang="en-US" sz="1350" dirty="0">
                <a:solidFill>
                  <a:srgbClr val="FFFFFF"/>
                </a:solidFill>
                <a:latin typeface="Arial" pitchFamily="34" charset="0"/>
                <a:ea typeface="Arial" pitchFamily="34" charset="-122"/>
                <a:cs typeface="Arial" pitchFamily="34" charset="-120"/>
              </a:rPr>
              <a:t>top 10 links per complaint in seconds — ranked, source-tagged, with photo matches — and every output auditable and investigator-approved.</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Claim Evidence Dashboard - Build Plan</dc:title>
  <dc:subject>PptxGenJS Presentation</dc:subject>
  <dc:creator>Universal Sompo</dc:creator>
  <cp:lastModifiedBy>Universal Sompo</cp:lastModifiedBy>
  <cp:revision>1</cp:revision>
  <dcterms:created xsi:type="dcterms:W3CDTF">2026-06-21T22:50:33Z</dcterms:created>
  <dcterms:modified xsi:type="dcterms:W3CDTF">2026-06-21T22:50:33Z</dcterms:modified>
</cp:coreProperties>
</file>